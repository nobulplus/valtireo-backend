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-3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README.md; docs/valtireo-business-plan-v1-2026-08-11.md; docs/valtireo-frontend-build-and-improvement-brief.md.</a:t>
            </a:r>
          </a:p>
          <a:p>
            <a:r>
              <a:t>Open with Valtireo as an Organizational OS. HR is the wedge, not the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 docs/valtireo-business-plan-v1-2026-08-11.md sections 3 and 6.</a:t>
            </a:r>
          </a:p>
          <a:p>
            <a:r>
              <a:t>Use this slide to make the pain concrete before introducing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executive summary and strategic conclusion; docs/valtireo-brand-product-design-foundation-v1.md positioning.</a:t>
            </a:r>
          </a:p>
          <a:p>
            <a:r>
              <a:t>This is the central product idea. Keep returning to this as the deck expands.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 README.md Product Shape; docs/valtireo-business-plan-v1-2026-08-11.md sections 1, 2, 9, and 16.</a:t>
            </a:r>
          </a:p>
          <a:p>
            <a:r>
              <a:rPr dirty="0"/>
              <a:t>Clarify that the deck is not abandoning HR. HR is the proof module for the larger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README.md Current Feature Surface; docs/valtireo-product-mvp-status-2026-08-06.md completed work and foundation implemented sections.</a:t>
            </a:r>
          </a:p>
          <a:p>
            <a:r>
              <a:t>Use 'foundation' and 'MVP' language. Avoid implying every frontend screen is complete where the docs still separate backend and frontend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docs/valtireo-frontend-build-and-improvement-brief.md Core Engines; docs/valtireo-product-mvp-status-2026-08-06.md Current Product Direction.</a:t>
            </a:r>
          </a:p>
          <a:p>
            <a:r>
              <a:t>This slide is the architecture answer to 'how do we intend to handle what is still coming?'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Differentiation and Competitive Landscape; docs/valtireo-product-mvp-status-2026-08-06.md OrangeHRM review and Valtireo advantage.</a:t>
            </a:r>
          </a:p>
          <a:p>
            <a:r>
              <a:t>Do not pitch this as 'more HR features than everyone.' Pitch it as the governance layer for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Product Roadmap; docs/valtireo-product-mvp-status-2026-08-06.md Future/Post-MVP Modules.</a:t>
            </a:r>
          </a:p>
          <a:p>
            <a:r>
              <a:t>Make clear that future modules are staged and should not distract from pilot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Target Customers and Buyer Personas.</a:t>
            </a:r>
          </a:p>
          <a:p>
            <a:r>
              <a:t>If a specific audience is chosen later, this slide can be made vertical-specific.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Go-To-Market Strategy and Sales Strategy.</a:t>
            </a:r>
          </a:p>
          <a:p>
            <a:r>
              <a:t>The deck should not over-index on investor fantasy. The first funding signal is a demo plus paid pilot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Business Model, Pricing Strategy, and Key Metrics.</a:t>
            </a:r>
          </a:p>
          <a:p>
            <a:r>
              <a:t>Numbers should be added after discovery validates willingness to pay. Keep this version flexible.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docs/valtireo-business-plan-v1-2026-08-11.md Funding and Resource Needs, Milestones, and Immediate Action Plan.</a:t>
            </a:r>
          </a:p>
          <a:p>
            <a:r>
              <a:t>Adjust this slide for investor, partner, or customer use. The current ask is broadly framed around resources and pilot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C44E361-A44E-4614-A0BF-A38F0B59C2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09CA1-EC71-4121-8999-366445092A09}"/>
              </a:ext>
            </a:extLst>
          </p:cNvPr>
          <p:cNvSpPr>
            <a:spLocks noGrp="1"/>
          </p:cNvSpPr>
          <p:nvPr/>
        </p:nvSpPr>
        <p:spPr>
          <a:xfrm>
            <a:off x="7543800" y="0"/>
            <a:ext cx="4648200" cy="6858000"/>
          </a:xfrm>
          <a:prstGeom prst="rect">
            <a:avLst/>
          </a:prstGeom>
          <a:solidFill>
            <a:srgbClr val="0E3632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DF9658-D098-4AAA-8A19-5437A4A86B43}"/>
              </a:ext>
            </a:extLst>
          </p:cNvPr>
          <p:cNvSpPr>
            <a:spLocks noGrp="1"/>
          </p:cNvSpPr>
          <p:nvPr/>
        </p:nvSpPr>
        <p:spPr>
          <a:xfrm>
            <a:off x="876300" y="838200"/>
            <a:ext cx="723900" cy="723900"/>
          </a:xfrm>
          <a:prstGeom prst="roundRect">
            <a:avLst>
              <a:gd name="adj" fmla="val 21053"/>
            </a:avLst>
          </a:prstGeom>
          <a:solidFill>
            <a:srgbClr val="123F3A"/>
          </a:solidFill>
          <a:ln w="0">
            <a:solidFill>
              <a:srgbClr val="123F3A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7C15B-356B-487D-957F-4DA935874DDD}"/>
              </a:ext>
            </a:extLst>
          </p:cNvPr>
          <p:cNvSpPr>
            <a:spLocks noGrp="1"/>
          </p:cNvSpPr>
          <p:nvPr/>
        </p:nvSpPr>
        <p:spPr>
          <a:xfrm>
            <a:off x="1122426" y="1019175"/>
            <a:ext cx="76200" cy="347472"/>
          </a:xfrm>
          <a:prstGeom prst="rect">
            <a:avLst/>
          </a:prstGeom>
          <a:solidFill>
            <a:srgbClr val="65C7C4"/>
          </a:solidFill>
          <a:ln w="0">
            <a:solidFill>
              <a:srgbClr val="65C7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E7E57-E36A-481C-B166-1FF4482B29A2}"/>
              </a:ext>
            </a:extLst>
          </p:cNvPr>
          <p:cNvSpPr>
            <a:spLocks noGrp="1"/>
          </p:cNvSpPr>
          <p:nvPr/>
        </p:nvSpPr>
        <p:spPr>
          <a:xfrm>
            <a:off x="1296162" y="1019175"/>
            <a:ext cx="76200" cy="347472"/>
          </a:xfrm>
          <a:prstGeom prst="rect">
            <a:avLst/>
          </a:prstGeom>
          <a:solidFill>
            <a:srgbClr val="244F7A"/>
          </a:solidFill>
          <a:ln w="0">
            <a:solidFill>
              <a:srgbClr val="244F7A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6BCC2D-F3C3-4B95-82BE-A2A663F7DFAA}"/>
              </a:ext>
            </a:extLst>
          </p:cNvPr>
          <p:cNvSpPr>
            <a:spLocks noGrp="1"/>
          </p:cNvSpPr>
          <p:nvPr/>
        </p:nvSpPr>
        <p:spPr>
          <a:xfrm>
            <a:off x="1035558" y="961263"/>
            <a:ext cx="104775" cy="104775"/>
          </a:xfrm>
          <a:prstGeom prst="ellipse">
            <a:avLst/>
          </a:prstGeom>
          <a:solidFill>
            <a:srgbClr val="FFCC29"/>
          </a:solidFill>
          <a:ln w="0">
            <a:solidFill>
              <a:srgbClr val="FFCC29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B7012C-D82D-4D78-974E-E65711677F72}"/>
              </a:ext>
            </a:extLst>
          </p:cNvPr>
          <p:cNvSpPr>
            <a:spLocks noGrp="1"/>
          </p:cNvSpPr>
          <p:nvPr/>
        </p:nvSpPr>
        <p:spPr>
          <a:xfrm>
            <a:off x="1216533" y="1359408"/>
            <a:ext cx="104775" cy="104775"/>
          </a:xfrm>
          <a:prstGeom prst="ellipse">
            <a:avLst/>
          </a:prstGeom>
          <a:solidFill>
            <a:srgbClr val="16B6C9"/>
          </a:solidFill>
          <a:ln w="0">
            <a:solidFill>
              <a:srgbClr val="16B6C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78E07-6137-43D4-820E-96AFD6C8E73A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Valtireo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C69AD8-497D-40AC-93F3-F48FF9E37FC1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DDEBE8"/>
                </a:solidFill>
              </a:defRPr>
            </a:pPr>
            <a:r>
              <a:rPr sz="1950" b="0">
                <a:solidFill>
                  <a:srgbClr val="DDEBE8"/>
                </a:solidFill>
              </a:rPr>
              <a:t>The Organizational OS for modern institutions and growing teams.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D79D51-B0E4-4968-B685-D6864435EDFC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590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BBD6D1"/>
                </a:solidFill>
              </a:defRPr>
            </a:pPr>
            <a:r>
              <a:rPr sz="1500" b="0">
                <a:solidFill>
                  <a:srgbClr val="BBD6D1"/>
                </a:solidFill>
              </a:rPr>
              <a:t>Structure, people, documents, approvals, compliance, reporting, and audit trails in one governed workspace.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68BEB8-8BEF-4795-A19A-1EF971C12843}"/>
              </a:ext>
            </a:extLst>
          </p:cNvPr>
          <p:cNvSpPr>
            <a:spLocks noGrp="1"/>
          </p:cNvSpPr>
          <p:nvPr/>
        </p:nvSpPr>
        <p:spPr>
          <a:xfrm>
            <a:off x="8058150" y="10668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CC29"/>
                </a:solidFill>
              </a:defRPr>
            </a:pPr>
            <a:r>
              <a:rPr sz="2550" b="1">
                <a:solidFill>
                  <a:srgbClr val="FFCC29"/>
                </a:solidFill>
              </a:rPr>
              <a:t>HR wedge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819BCC-7A57-4A4D-BACA-B5DB97154B41}"/>
              </a:ext>
            </a:extLst>
          </p:cNvPr>
          <p:cNvSpPr>
            <a:spLocks noGrp="1"/>
          </p:cNvSpPr>
          <p:nvPr/>
        </p:nvSpPr>
        <p:spPr>
          <a:xfrm>
            <a:off x="8058150" y="15811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First commercial entry point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C67A1-E407-4D05-A18D-C5E915215710}"/>
              </a:ext>
            </a:extLst>
          </p:cNvPr>
          <p:cNvSpPr>
            <a:spLocks noGrp="1"/>
          </p:cNvSpPr>
          <p:nvPr/>
        </p:nvSpPr>
        <p:spPr>
          <a:xfrm>
            <a:off x="8058150" y="24765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6B6C9"/>
                </a:solidFill>
              </a:defRPr>
            </a:pPr>
            <a:r>
              <a:rPr sz="2550" b="1">
                <a:solidFill>
                  <a:srgbClr val="16B6C9"/>
                </a:solidFill>
              </a:rPr>
              <a:t>OS vision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AA39F-FD25-41FE-A4DA-5BB79F6EE0A3}"/>
              </a:ext>
            </a:extLst>
          </p:cNvPr>
          <p:cNvSpPr>
            <a:spLocks noGrp="1"/>
          </p:cNvSpPr>
          <p:nvPr/>
        </p:nvSpPr>
        <p:spPr>
          <a:xfrm>
            <a:off x="8058150" y="29908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Expansion beyond HRMS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ED4191-E802-4CB6-B95A-A079119AD9FC}"/>
              </a:ext>
            </a:extLst>
          </p:cNvPr>
          <p:cNvSpPr>
            <a:spLocks noGrp="1"/>
          </p:cNvSpPr>
          <p:nvPr/>
        </p:nvSpPr>
        <p:spPr>
          <a:xfrm>
            <a:off x="8058150" y="38862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65C7C4"/>
                </a:solidFill>
              </a:defRPr>
            </a:pPr>
            <a:r>
              <a:rPr sz="2550" b="1">
                <a:solidFill>
                  <a:srgbClr val="65C7C4"/>
                </a:solidFill>
              </a:rPr>
              <a:t>MVP base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C099A-1347-4652-8ABF-00033846EFF3}"/>
              </a:ext>
            </a:extLst>
          </p:cNvPr>
          <p:cNvSpPr>
            <a:spLocks noGrp="1"/>
          </p:cNvSpPr>
          <p:nvPr/>
        </p:nvSpPr>
        <p:spPr>
          <a:xfrm>
            <a:off x="8058150" y="44005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Core engines already built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46C1C3-33FA-4516-99C3-9FAFF3D742E0}"/>
              </a:ext>
            </a:extLst>
          </p:cNvPr>
          <p:cNvSpPr>
            <a:spLocks noGrp="1"/>
          </p:cNvSpPr>
          <p:nvPr/>
        </p:nvSpPr>
        <p:spPr>
          <a:xfrm>
            <a:off x="914400" y="5943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BBD6D1"/>
                </a:solidFill>
              </a:defRPr>
            </a:pPr>
            <a:r>
              <a:rPr sz="1125" b="0">
                <a:solidFill>
                  <a:srgbClr val="BBD6D1"/>
                </a:solidFill>
              </a:rPr>
              <a:t>Pitch deck v1 - 2026</a:t>
            </a:r>
          </a:p>
        </p:txBody>
      </p:sp>
    </p:spTree>
    <p:extLst>
      <p:ext uri="{BB962C8B-B14F-4D97-AF65-F5344CB8AC3E}">
        <p14:creationId xmlns:p14="http://schemas.microsoft.com/office/powerpoint/2010/main" val="83644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629C77A-041F-47E3-A468-02203A693C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CCB41-BDCA-4F2A-8811-B1DCB2AAEF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7C2BFC-1AF5-4A7E-AB8C-966C14C22F2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637172-5A03-4C75-8305-84D62C471913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0A073-11E2-42A8-8427-EEB8F4E13F0A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Administration still runs on disconnected fragments.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B8FC5-7E66-4042-82EB-DB6201E85354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As organizations grow, the work that should create control instead creates blind spots.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BE1C2-0047-4A7A-A9CE-A62634323A3B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A11C8-D281-4157-ABD5-D6F5CA1AFA0B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CC6173-9153-441C-85CA-633FDC8B9502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2400300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1D2C7-0E9A-436C-8128-2A2965C5B6D8}"/>
              </a:ext>
            </a:extLst>
          </p:cNvPr>
          <p:cNvSpPr>
            <a:spLocks noGrp="1"/>
          </p:cNvSpPr>
          <p:nvPr/>
        </p:nvSpPr>
        <p:spPr>
          <a:xfrm>
            <a:off x="1047750" y="40386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Records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2F5A2-4666-4084-A41C-0053ED50ED48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Employee data lives across spreadsheets, folders, paper files, and chats.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7F688D-6D7A-45B4-8B52-1F84B6B60D66}"/>
              </a:ext>
            </a:extLst>
          </p:cNvPr>
          <p:cNvSpPr>
            <a:spLocks noGrp="1"/>
          </p:cNvSpPr>
          <p:nvPr/>
        </p:nvSpPr>
        <p:spPr>
          <a:xfrm>
            <a:off x="3543300" y="3829050"/>
            <a:ext cx="2400300" cy="1485900"/>
          </a:xfrm>
          <a:prstGeom prst="roundRect">
            <a:avLst>
              <a:gd name="adj" fmla="val 8974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930700-5CEE-4222-95DC-B388F2DDB5B4}"/>
              </a:ext>
            </a:extLst>
          </p:cNvPr>
          <p:cNvSpPr>
            <a:spLocks noGrp="1"/>
          </p:cNvSpPr>
          <p:nvPr/>
        </p:nvSpPr>
        <p:spPr>
          <a:xfrm>
            <a:off x="3771900" y="40386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Approvals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6F27B-2635-4E35-81E5-B88D9BFA4BD7}"/>
              </a:ext>
            </a:extLst>
          </p:cNvPr>
          <p:cNvSpPr>
            <a:spLocks noGrp="1"/>
          </p:cNvSpPr>
          <p:nvPr/>
        </p:nvSpPr>
        <p:spPr>
          <a:xfrm>
            <a:off x="3771900" y="44386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Decisions happen informally, without a durable owner, status, or trail.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D8A532-1054-4086-8105-1BE6BD09B546}"/>
              </a:ext>
            </a:extLst>
          </p:cNvPr>
          <p:cNvSpPr>
            <a:spLocks noGrp="1"/>
          </p:cNvSpPr>
          <p:nvPr/>
        </p:nvSpPr>
        <p:spPr>
          <a:xfrm>
            <a:off x="6267450" y="3829050"/>
            <a:ext cx="2400300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A72714-EF6E-4E0B-966A-CC58CCE0A599}"/>
              </a:ext>
            </a:extLst>
          </p:cNvPr>
          <p:cNvSpPr>
            <a:spLocks noGrp="1"/>
          </p:cNvSpPr>
          <p:nvPr/>
        </p:nvSpPr>
        <p:spPr>
          <a:xfrm>
            <a:off x="6496050" y="40386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Compliance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926783-148C-4AEB-A213-3F8D8F8ABBE0}"/>
              </a:ext>
            </a:extLst>
          </p:cNvPr>
          <p:cNvSpPr>
            <a:spLocks noGrp="1"/>
          </p:cNvSpPr>
          <p:nvPr/>
        </p:nvSpPr>
        <p:spPr>
          <a:xfrm>
            <a:off x="6496050" y="44386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Missing and expiring documents surface late, usually after risk has already formed.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C214CAA-1F09-48A3-9AE1-C74C7C5B8723}"/>
              </a:ext>
            </a:extLst>
          </p:cNvPr>
          <p:cNvSpPr>
            <a:spLocks noGrp="1"/>
          </p:cNvSpPr>
          <p:nvPr/>
        </p:nvSpPr>
        <p:spPr>
          <a:xfrm>
            <a:off x="8991600" y="3829050"/>
            <a:ext cx="2400300" cy="1485900"/>
          </a:xfrm>
          <a:prstGeom prst="roundRect">
            <a:avLst>
              <a:gd name="adj" fmla="val 8974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4B10F9-3DAE-4A2A-B982-41EC72D5C6C0}"/>
              </a:ext>
            </a:extLst>
          </p:cNvPr>
          <p:cNvSpPr>
            <a:spLocks noGrp="1"/>
          </p:cNvSpPr>
          <p:nvPr/>
        </p:nvSpPr>
        <p:spPr>
          <a:xfrm>
            <a:off x="9220200" y="40386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Reports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C5306B-97AE-434D-A247-C1266967328C}"/>
              </a:ext>
            </a:extLst>
          </p:cNvPr>
          <p:cNvSpPr>
            <a:spLocks noGrp="1"/>
          </p:cNvSpPr>
          <p:nvPr/>
        </p:nvSpPr>
        <p:spPr>
          <a:xfrm>
            <a:off x="9220200" y="44386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Leadership waits for recreated spreadsheets instead of trusted operational data.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BBEF9-D049-4CD1-B8E1-F002D7C5204D}"/>
              </a:ext>
            </a:extLst>
          </p:cNvPr>
          <p:cNvSpPr>
            <a:spLocks noGrp="1"/>
          </p:cNvSpPr>
          <p:nvPr/>
        </p:nvSpPr>
        <p:spPr>
          <a:xfrm>
            <a:off x="1200150" y="3380493"/>
            <a:ext cx="9144000" cy="28575"/>
          </a:xfrm>
          <a:prstGeom prst="rect">
            <a:avLst/>
          </a:prstGeom>
          <a:solidFill>
            <a:srgbClr val="D7E2E0"/>
          </a:solidFill>
          <a:ln w="0">
            <a:solidFill>
              <a:srgbClr val="D7E2E0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AA40CF7-5BD5-4719-B748-B9B10F579DFC}"/>
              </a:ext>
            </a:extLst>
          </p:cNvPr>
          <p:cNvSpPr>
            <a:spLocks noGrp="1"/>
          </p:cNvSpPr>
          <p:nvPr/>
        </p:nvSpPr>
        <p:spPr>
          <a:xfrm>
            <a:off x="1257300" y="3151893"/>
            <a:ext cx="1409700" cy="438150"/>
          </a:xfrm>
          <a:prstGeom prst="roundRect">
            <a:avLst>
              <a:gd name="adj" fmla="val 3913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F3FE6B-E1BF-48C8-B1E5-27D78E1B53E0}"/>
              </a:ext>
            </a:extLst>
          </p:cNvPr>
          <p:cNvSpPr>
            <a:spLocks noGrp="1"/>
          </p:cNvSpPr>
          <p:nvPr/>
        </p:nvSpPr>
        <p:spPr>
          <a:xfrm>
            <a:off x="1390650" y="3228093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files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7BC0A77-18AB-44E2-A4E2-1328C90F3F5A}"/>
              </a:ext>
            </a:extLst>
          </p:cNvPr>
          <p:cNvSpPr>
            <a:spLocks noGrp="1"/>
          </p:cNvSpPr>
          <p:nvPr/>
        </p:nvSpPr>
        <p:spPr>
          <a:xfrm>
            <a:off x="3638550" y="3151893"/>
            <a:ext cx="1409700" cy="438150"/>
          </a:xfrm>
          <a:prstGeom prst="roundRect">
            <a:avLst>
              <a:gd name="adj" fmla="val 3913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05DF-529C-4CF6-9248-054B0E1D64BC}"/>
              </a:ext>
            </a:extLst>
          </p:cNvPr>
          <p:cNvSpPr>
            <a:spLocks noGrp="1"/>
          </p:cNvSpPr>
          <p:nvPr/>
        </p:nvSpPr>
        <p:spPr>
          <a:xfrm>
            <a:off x="3771900" y="3228093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messages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5881A7E-F087-4B0D-A59F-74F9225622DF}"/>
              </a:ext>
            </a:extLst>
          </p:cNvPr>
          <p:cNvSpPr>
            <a:spLocks noGrp="1"/>
          </p:cNvSpPr>
          <p:nvPr/>
        </p:nvSpPr>
        <p:spPr>
          <a:xfrm>
            <a:off x="6019800" y="3151893"/>
            <a:ext cx="1409700" cy="438150"/>
          </a:xfrm>
          <a:prstGeom prst="roundRect">
            <a:avLst>
              <a:gd name="adj" fmla="val 3913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DB7D58-667F-48A0-B368-8168793074A2}"/>
              </a:ext>
            </a:extLst>
          </p:cNvPr>
          <p:cNvSpPr>
            <a:spLocks noGrp="1"/>
          </p:cNvSpPr>
          <p:nvPr/>
        </p:nvSpPr>
        <p:spPr>
          <a:xfrm>
            <a:off x="6153150" y="3228093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forms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350A6E5-2BBA-4BBA-AB46-A2B0C20C8886}"/>
              </a:ext>
            </a:extLst>
          </p:cNvPr>
          <p:cNvSpPr>
            <a:spLocks noGrp="1"/>
          </p:cNvSpPr>
          <p:nvPr/>
        </p:nvSpPr>
        <p:spPr>
          <a:xfrm>
            <a:off x="8401050" y="3151893"/>
            <a:ext cx="1409700" cy="438150"/>
          </a:xfrm>
          <a:prstGeom prst="roundRect">
            <a:avLst>
              <a:gd name="adj" fmla="val 3913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0B580B-DA40-4959-87B5-153DE0A97E7D}"/>
              </a:ext>
            </a:extLst>
          </p:cNvPr>
          <p:cNvSpPr>
            <a:spLocks noGrp="1"/>
          </p:cNvSpPr>
          <p:nvPr/>
        </p:nvSpPr>
        <p:spPr>
          <a:xfrm>
            <a:off x="8534400" y="3228093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spreadsheets</a:t>
            </a:r>
          </a:p>
        </p:txBody>
      </p:sp>
    </p:spTree>
    <p:extLst>
      <p:ext uri="{BB962C8B-B14F-4D97-AF65-F5344CB8AC3E}">
        <p14:creationId xmlns:p14="http://schemas.microsoft.com/office/powerpoint/2010/main" val="103824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B4F3849-B014-4684-AE1C-3C8E9A8490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956D0-E2E4-46A0-B441-A3929C555A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B15AAA-4BA4-46D2-B3E2-6F0512F5A0D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197163-A825-43C0-BA9C-79972B9F0201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THE THESIS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7737E-B9B2-42B9-884B-F5D0C6DEB3DC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Every operational object needs a place, owner, status, and trail.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5063A-2E79-4684-92CF-2A5F14E041D5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 dirty="0" err="1">
                <a:solidFill>
                  <a:srgbClr val="667085"/>
                </a:solidFill>
              </a:rPr>
              <a:t>Valtireo</a:t>
            </a:r>
            <a:r>
              <a:rPr sz="1650" b="0" dirty="0">
                <a:solidFill>
                  <a:srgbClr val="667085"/>
                </a:solidFill>
              </a:rPr>
              <a:t> turns scattered organizational work into structured, visible, governed operations.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FE253-169C-442C-8B7F-605293268F02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19B8C9-F632-4FA8-BB8C-DB306938E1E9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F7C6CB-178F-47AA-8ADD-60AD1A376645}"/>
              </a:ext>
            </a:extLst>
          </p:cNvPr>
          <p:cNvSpPr>
            <a:spLocks noGrp="1"/>
          </p:cNvSpPr>
          <p:nvPr/>
        </p:nvSpPr>
        <p:spPr>
          <a:xfrm>
            <a:off x="4343400" y="3238500"/>
            <a:ext cx="3524250" cy="1143000"/>
          </a:xfrm>
          <a:prstGeom prst="roundRect">
            <a:avLst>
              <a:gd name="adj" fmla="val 15000"/>
            </a:avLst>
          </a:prstGeom>
          <a:solidFill>
            <a:srgbClr val="123F3A"/>
          </a:solidFill>
          <a:ln w="0">
            <a:solidFill>
              <a:srgbClr val="123F3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E4FC83-9305-4550-AF29-2B0D967DB053}"/>
              </a:ext>
            </a:extLst>
          </p:cNvPr>
          <p:cNvSpPr>
            <a:spLocks noGrp="1"/>
          </p:cNvSpPr>
          <p:nvPr/>
        </p:nvSpPr>
        <p:spPr>
          <a:xfrm>
            <a:off x="4686300" y="35623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Organizational 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16DDB9-E0F6-4E9A-A604-75F8F938331B}"/>
              </a:ext>
            </a:extLst>
          </p:cNvPr>
          <p:cNvSpPr>
            <a:spLocks noGrp="1"/>
          </p:cNvSpPr>
          <p:nvPr/>
        </p:nvSpPr>
        <p:spPr>
          <a:xfrm>
            <a:off x="1114425" y="3304390"/>
            <a:ext cx="135255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9050">
            <a:solidFill>
              <a:srgbClr val="2F8F8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06E2A2-1692-4865-BD1D-63F0F23B2A19}"/>
              </a:ext>
            </a:extLst>
          </p:cNvPr>
          <p:cNvSpPr>
            <a:spLocks noGrp="1"/>
          </p:cNvSpPr>
          <p:nvPr/>
        </p:nvSpPr>
        <p:spPr>
          <a:xfrm>
            <a:off x="1292552" y="3489783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 dirty="0">
                <a:solidFill>
                  <a:srgbClr val="101828"/>
                </a:solidFill>
              </a:rPr>
              <a:t>People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92503F-80B5-42DF-9598-BB2D8FB93801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135255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9050">
            <a:solidFill>
              <a:srgbClr val="244F7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74D98F-FBD0-41CB-9A9D-3FC21E87DA0B}"/>
              </a:ext>
            </a:extLst>
          </p:cNvPr>
          <p:cNvSpPr>
            <a:spLocks noGrp="1"/>
          </p:cNvSpPr>
          <p:nvPr/>
        </p:nvSpPr>
        <p:spPr>
          <a:xfrm>
            <a:off x="1790700" y="4876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Documents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F716FE-186E-42FA-8009-0F084819FFA7}"/>
              </a:ext>
            </a:extLst>
          </p:cNvPr>
          <p:cNvSpPr>
            <a:spLocks noGrp="1"/>
          </p:cNvSpPr>
          <p:nvPr/>
        </p:nvSpPr>
        <p:spPr>
          <a:xfrm>
            <a:off x="5029200" y="4953000"/>
            <a:ext cx="135255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9050">
            <a:solidFill>
              <a:srgbClr val="FFCC2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6FA8BA-5F0F-4463-AF63-5AEF7EC76489}"/>
              </a:ext>
            </a:extLst>
          </p:cNvPr>
          <p:cNvSpPr>
            <a:spLocks noGrp="1"/>
          </p:cNvSpPr>
          <p:nvPr/>
        </p:nvSpPr>
        <p:spPr>
          <a:xfrm>
            <a:off x="5143500" y="51435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Approvals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5F1158-27BE-43A3-9AED-872417CB8D20}"/>
              </a:ext>
            </a:extLst>
          </p:cNvPr>
          <p:cNvSpPr>
            <a:spLocks noGrp="1"/>
          </p:cNvSpPr>
          <p:nvPr/>
        </p:nvSpPr>
        <p:spPr>
          <a:xfrm>
            <a:off x="8153400" y="4686300"/>
            <a:ext cx="135255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9050">
            <a:solidFill>
              <a:srgbClr val="168A5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1D66E0-958B-403F-A7FA-BA37589FDA72}"/>
              </a:ext>
            </a:extLst>
          </p:cNvPr>
          <p:cNvSpPr>
            <a:spLocks noGrp="1"/>
          </p:cNvSpPr>
          <p:nvPr/>
        </p:nvSpPr>
        <p:spPr>
          <a:xfrm>
            <a:off x="8267700" y="4876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Compliance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11DF7F-4C33-4012-B496-549B7773644C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135255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9050">
            <a:solidFill>
              <a:srgbClr val="16B6C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EB2D72-96AF-4A36-9F56-2AFA16971BD7}"/>
              </a:ext>
            </a:extLst>
          </p:cNvPr>
          <p:cNvSpPr>
            <a:spLocks noGrp="1"/>
          </p:cNvSpPr>
          <p:nvPr/>
        </p:nvSpPr>
        <p:spPr>
          <a:xfrm>
            <a:off x="9086850" y="29908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Reports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3DCE6D-588F-461B-A7A8-728DE110D186}"/>
              </a:ext>
            </a:extLst>
          </p:cNvPr>
          <p:cNvSpPr>
            <a:spLocks noGrp="1"/>
          </p:cNvSpPr>
          <p:nvPr/>
        </p:nvSpPr>
        <p:spPr>
          <a:xfrm>
            <a:off x="6818329" y="2150981"/>
            <a:ext cx="135255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9050">
            <a:solidFill>
              <a:srgbClr val="C47A0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66AFF5-45A6-4101-8B0A-1B262E12436E}"/>
              </a:ext>
            </a:extLst>
          </p:cNvPr>
          <p:cNvSpPr>
            <a:spLocks noGrp="1"/>
          </p:cNvSpPr>
          <p:nvPr/>
        </p:nvSpPr>
        <p:spPr>
          <a:xfrm>
            <a:off x="6932629" y="2304215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 dirty="0">
                <a:solidFill>
                  <a:srgbClr val="101828"/>
                </a:solidFill>
              </a:rPr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195603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7290424-66BD-4A16-BBCA-F7650B4798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CB6F1-4790-43B6-B39B-B2B57A06FC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179261-1877-4141-BBD0-990F7071A8B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7C27C-0222-4E99-8B8D-86370A90F824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THE WEDGE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05AF3-EE0F-4124-B963-758B680CEC24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HR is the first door into the operating layer.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8BED21-27AD-446A-8CE7-42FCA0BE9371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People operations expose the recurring problems Valtireo is designed to solve: records, approvals, documents, leave, attendance, reports, and accountability.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746BE-4B05-4D94-A7EE-D72F6B71824A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BCB90-A756-42E4-B1E5-815E34E8467D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0ECB71-3BFD-4170-B363-86370F5D295F}"/>
              </a:ext>
            </a:extLst>
          </p:cNvPr>
          <p:cNvSpPr>
            <a:spLocks noGrp="1"/>
          </p:cNvSpPr>
          <p:nvPr/>
        </p:nvSpPr>
        <p:spPr>
          <a:xfrm>
            <a:off x="819150" y="3635802"/>
            <a:ext cx="4762500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C9FF53-3567-403D-8B3A-9892E2F7BD39}"/>
              </a:ext>
            </a:extLst>
          </p:cNvPr>
          <p:cNvSpPr>
            <a:spLocks noGrp="1"/>
          </p:cNvSpPr>
          <p:nvPr/>
        </p:nvSpPr>
        <p:spPr>
          <a:xfrm>
            <a:off x="1047750" y="3845352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Why HR first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9FE0A-A928-493A-96F4-3BD6D520F625}"/>
              </a:ext>
            </a:extLst>
          </p:cNvPr>
          <p:cNvSpPr>
            <a:spLocks noGrp="1"/>
          </p:cNvSpPr>
          <p:nvPr/>
        </p:nvSpPr>
        <p:spPr>
          <a:xfrm>
            <a:off x="1047750" y="4245402"/>
            <a:ext cx="43053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>
                <a:solidFill>
                  <a:srgbClr val="667085"/>
                </a:solidFill>
              </a:rPr>
              <a:t>It is where organizations already feel the pain of scattered employee records, missing documents, manual approvals, leave conflicts, attendance uncertainty, and monthly spreadsheet reporting.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438AA6-0B3E-4683-84DA-6F2DB636AA0F}"/>
              </a:ext>
            </a:extLst>
          </p:cNvPr>
          <p:cNvSpPr>
            <a:spLocks noGrp="1"/>
          </p:cNvSpPr>
          <p:nvPr/>
        </p:nvSpPr>
        <p:spPr>
          <a:xfrm>
            <a:off x="6232885" y="3635802"/>
            <a:ext cx="4762500" cy="2000250"/>
          </a:xfrm>
          <a:prstGeom prst="roundRect">
            <a:avLst>
              <a:gd name="adj" fmla="val 6667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F717DF-24D8-4EF3-B965-7FE91BFBEB50}"/>
              </a:ext>
            </a:extLst>
          </p:cNvPr>
          <p:cNvSpPr>
            <a:spLocks noGrp="1"/>
          </p:cNvSpPr>
          <p:nvPr/>
        </p:nvSpPr>
        <p:spPr>
          <a:xfrm>
            <a:off x="6461485" y="3845352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 dirty="0">
                <a:solidFill>
                  <a:srgbClr val="101828"/>
                </a:solidFill>
              </a:rPr>
              <a:t>Why not stop at HR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B14FD-221D-4CD9-A8CC-3D870E7A42AE}"/>
              </a:ext>
            </a:extLst>
          </p:cNvPr>
          <p:cNvSpPr>
            <a:spLocks noGrp="1"/>
          </p:cNvSpPr>
          <p:nvPr/>
        </p:nvSpPr>
        <p:spPr>
          <a:xfrm>
            <a:off x="6461485" y="4245402"/>
            <a:ext cx="43053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>
                <a:solidFill>
                  <a:srgbClr val="667085"/>
                </a:solidFill>
              </a:rPr>
              <a:t>The same engines apply to internal services, compliance, finance/admin workflows, assets, service desk, policy support, and AI-assisted administration.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E244A91-CDCA-42D2-B236-8A59712E72E0}"/>
              </a:ext>
            </a:extLst>
          </p:cNvPr>
          <p:cNvSpPr>
            <a:spLocks noGrp="1"/>
          </p:cNvSpPr>
          <p:nvPr/>
        </p:nvSpPr>
        <p:spPr>
          <a:xfrm>
            <a:off x="5432785" y="4350177"/>
            <a:ext cx="800100" cy="571500"/>
          </a:xfrm>
          <a:prstGeom prst="rightArrow">
            <a:avLst/>
          </a:prstGeom>
          <a:solidFill>
            <a:srgbClr val="2F8F8A"/>
          </a:solidFill>
          <a:ln w="0">
            <a:solidFill>
              <a:srgbClr val="2F8F8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909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A9E2934-0440-4807-A807-48FE2B837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266A3B-476A-4B98-86D8-2EE052E60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AE5AC7-B8BC-4D53-9E45-CB3D14BBBA3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192DE-19E4-4C38-819A-677D080DF575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BUILT FOUNDATION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68513B-19BB-41BD-B1AD-CD62A5595011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The MVP already contains the engines an Organizational OS needs.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89765D-1EFF-4180-BB54-B26BFB8658DA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This is the execution proof: not a mockup, but a working foundation across identity, records, workflows, reports, and governance.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812D79-E290-4E7C-90DE-7579DC2E787A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031634-8205-4924-BF17-1AD592CFF2A2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1FAC69-CCB9-4D54-9FF7-EE75836DB398}"/>
              </a:ext>
            </a:extLst>
          </p:cNvPr>
          <p:cNvSpPr>
            <a:spLocks noGrp="1"/>
          </p:cNvSpPr>
          <p:nvPr/>
        </p:nvSpPr>
        <p:spPr>
          <a:xfrm>
            <a:off x="855482" y="3657993"/>
            <a:ext cx="31051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B41BE6-9811-4AA3-AFDC-DFE008201F60}"/>
              </a:ext>
            </a:extLst>
          </p:cNvPr>
          <p:cNvSpPr>
            <a:spLocks noGrp="1"/>
          </p:cNvSpPr>
          <p:nvPr/>
        </p:nvSpPr>
        <p:spPr>
          <a:xfrm>
            <a:off x="1084082" y="37147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23F3A"/>
                </a:solidFill>
              </a:defRPr>
            </a:pPr>
            <a:r>
              <a:rPr sz="1500" b="1">
                <a:solidFill>
                  <a:srgbClr val="123F3A"/>
                </a:solidFill>
              </a:rPr>
              <a:t>Core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2C6CF-F21A-42C6-A893-208B54C479A7}"/>
              </a:ext>
            </a:extLst>
          </p:cNvPr>
          <p:cNvSpPr>
            <a:spLocks noGrp="1"/>
          </p:cNvSpPr>
          <p:nvPr/>
        </p:nvSpPr>
        <p:spPr>
          <a:xfrm>
            <a:off x="1084082" y="4114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Tenant setup, workspace settings, roles, permissions, module entitlements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65748D-7B35-4674-BAC9-74DCBA84EBF3}"/>
              </a:ext>
            </a:extLst>
          </p:cNvPr>
          <p:cNvSpPr>
            <a:spLocks noGrp="1"/>
          </p:cNvSpPr>
          <p:nvPr/>
        </p:nvSpPr>
        <p:spPr>
          <a:xfrm>
            <a:off x="4379732" y="3657993"/>
            <a:ext cx="31051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14A9CC-BE77-47F6-ADAE-601EA9A28B15}"/>
              </a:ext>
            </a:extLst>
          </p:cNvPr>
          <p:cNvSpPr>
            <a:spLocks noGrp="1"/>
          </p:cNvSpPr>
          <p:nvPr/>
        </p:nvSpPr>
        <p:spPr>
          <a:xfrm>
            <a:off x="4608332" y="37147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8F8A"/>
                </a:solidFill>
              </a:defRPr>
            </a:pPr>
            <a:r>
              <a:rPr sz="1500" b="1">
                <a:solidFill>
                  <a:srgbClr val="2F8F8A"/>
                </a:solidFill>
              </a:rPr>
              <a:t>People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E8F44E-E8C8-41BA-B4EF-46C4D389277C}"/>
              </a:ext>
            </a:extLst>
          </p:cNvPr>
          <p:cNvSpPr>
            <a:spLocks noGrp="1"/>
          </p:cNvSpPr>
          <p:nvPr/>
        </p:nvSpPr>
        <p:spPr>
          <a:xfrm>
            <a:off x="4608332" y="4114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Employee records, onboarding, profiles, contacts, dependents, custom fields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7E9C73-D7BE-4D1D-9202-00A98182BC67}"/>
              </a:ext>
            </a:extLst>
          </p:cNvPr>
          <p:cNvSpPr>
            <a:spLocks noGrp="1"/>
          </p:cNvSpPr>
          <p:nvPr/>
        </p:nvSpPr>
        <p:spPr>
          <a:xfrm>
            <a:off x="7903982" y="3657993"/>
            <a:ext cx="31051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97838E-41A1-415B-9EDE-C294DBDD3757}"/>
              </a:ext>
            </a:extLst>
          </p:cNvPr>
          <p:cNvSpPr>
            <a:spLocks noGrp="1"/>
          </p:cNvSpPr>
          <p:nvPr/>
        </p:nvSpPr>
        <p:spPr>
          <a:xfrm>
            <a:off x="8132582" y="37147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44F7A"/>
                </a:solidFill>
              </a:defRPr>
            </a:pPr>
            <a:r>
              <a:rPr sz="1500" b="1">
                <a:solidFill>
                  <a:srgbClr val="244F7A"/>
                </a:solidFill>
              </a:rPr>
              <a:t>Documents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189646-76E4-4367-92B7-FF1DC5A106B9}"/>
              </a:ext>
            </a:extLst>
          </p:cNvPr>
          <p:cNvSpPr>
            <a:spLocks noGrp="1"/>
          </p:cNvSpPr>
          <p:nvPr/>
        </p:nvSpPr>
        <p:spPr>
          <a:xfrm>
            <a:off x="8132582" y="4114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Types, requirements, submissions, expiry tracking, reviews, compliance summaries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1DA210-0263-4ABB-B87D-96B75260E876}"/>
              </a:ext>
            </a:extLst>
          </p:cNvPr>
          <p:cNvSpPr>
            <a:spLocks noGrp="1"/>
          </p:cNvSpPr>
          <p:nvPr/>
        </p:nvSpPr>
        <p:spPr>
          <a:xfrm>
            <a:off x="855482" y="4953000"/>
            <a:ext cx="31051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6A1B0-DB97-4F8B-BAF3-C29CD22AFA81}"/>
              </a:ext>
            </a:extLst>
          </p:cNvPr>
          <p:cNvSpPr>
            <a:spLocks noGrp="1"/>
          </p:cNvSpPr>
          <p:nvPr/>
        </p:nvSpPr>
        <p:spPr>
          <a:xfrm>
            <a:off x="1084082" y="51625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23F3A"/>
                </a:solidFill>
              </a:defRPr>
            </a:pPr>
            <a:r>
              <a:rPr sz="1500" b="1">
                <a:solidFill>
                  <a:srgbClr val="123F3A"/>
                </a:solidFill>
              </a:rPr>
              <a:t>Workflows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93F7B7-FAD0-4DED-98C9-958E62E6060B}"/>
              </a:ext>
            </a:extLst>
          </p:cNvPr>
          <p:cNvSpPr>
            <a:spLocks noGrp="1"/>
          </p:cNvSpPr>
          <p:nvPr/>
        </p:nvSpPr>
        <p:spPr>
          <a:xfrm>
            <a:off x="1084082" y="55626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Configurable approvals by permission, role, manager, and department head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2062C0-532D-4634-8F6A-838F3BFE0490}"/>
              </a:ext>
            </a:extLst>
          </p:cNvPr>
          <p:cNvSpPr>
            <a:spLocks noGrp="1"/>
          </p:cNvSpPr>
          <p:nvPr/>
        </p:nvSpPr>
        <p:spPr>
          <a:xfrm>
            <a:off x="4379732" y="4953000"/>
            <a:ext cx="31051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C28760-5406-4007-9BEE-A418D2C27869}"/>
              </a:ext>
            </a:extLst>
          </p:cNvPr>
          <p:cNvSpPr>
            <a:spLocks noGrp="1"/>
          </p:cNvSpPr>
          <p:nvPr/>
        </p:nvSpPr>
        <p:spPr>
          <a:xfrm>
            <a:off x="4608332" y="51625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8F8A"/>
                </a:solidFill>
              </a:defRPr>
            </a:pPr>
            <a:r>
              <a:rPr sz="1500" b="1">
                <a:solidFill>
                  <a:srgbClr val="2F8F8A"/>
                </a:solidFill>
              </a:rPr>
              <a:t>Time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4E45CE-A937-492D-89BE-BB22FFEC3F40}"/>
              </a:ext>
            </a:extLst>
          </p:cNvPr>
          <p:cNvSpPr>
            <a:spLocks noGrp="1"/>
          </p:cNvSpPr>
          <p:nvPr/>
        </p:nvSpPr>
        <p:spPr>
          <a:xfrm>
            <a:off x="4608332" y="55626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Leave setup, entitlements, requests, balances, attendance, corrections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A03D45-4BA7-4B11-8A92-D5573C7C2B7E}"/>
              </a:ext>
            </a:extLst>
          </p:cNvPr>
          <p:cNvSpPr>
            <a:spLocks noGrp="1"/>
          </p:cNvSpPr>
          <p:nvPr/>
        </p:nvSpPr>
        <p:spPr>
          <a:xfrm>
            <a:off x="7903982" y="4953000"/>
            <a:ext cx="31051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B392E4-DF5B-48E9-B798-984A9DC10D5E}"/>
              </a:ext>
            </a:extLst>
          </p:cNvPr>
          <p:cNvSpPr>
            <a:spLocks noGrp="1"/>
          </p:cNvSpPr>
          <p:nvPr/>
        </p:nvSpPr>
        <p:spPr>
          <a:xfrm>
            <a:off x="8132582" y="51625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44F7A"/>
                </a:solidFill>
              </a:defRPr>
            </a:pPr>
            <a:r>
              <a:rPr sz="1500" b="1">
                <a:solidFill>
                  <a:srgbClr val="244F7A"/>
                </a:solidFill>
              </a:rPr>
              <a:t>Governance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4493E3-093A-45C4-A03E-FC9095F598A3}"/>
              </a:ext>
            </a:extLst>
          </p:cNvPr>
          <p:cNvSpPr>
            <a:spLocks noGrp="1"/>
          </p:cNvSpPr>
          <p:nvPr/>
        </p:nvSpPr>
        <p:spPr>
          <a:xfrm>
            <a:off x="8132582" y="55626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Reports, CSV exports, notifications, audit logs, activity feed</a:t>
            </a:r>
          </a:p>
        </p:txBody>
      </p:sp>
    </p:spTree>
    <p:extLst>
      <p:ext uri="{BB962C8B-B14F-4D97-AF65-F5344CB8AC3E}">
        <p14:creationId xmlns:p14="http://schemas.microsoft.com/office/powerpoint/2010/main" val="21611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EF967B0-812D-41BE-967A-7895906F64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7536E9-C293-43A8-B69D-31302B1053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A3CC76-0C56-4C79-8B88-CE00D21F827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0C63C-A2C8-4FEA-A31A-3B2966298AB7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PLATFORM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46F296-B677-4C29-93DF-BE4A86A6AB6C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The same engines run through every module.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96DFE-0520-42E7-A669-E6325F0E3A3C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Valtireo is not a pile of HR features. It is a set of reusable operating engines that make each new module cheaper to add and easier to govern.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5B3CB-7FDB-465D-9A58-83C1F99AF667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8A893-4F05-4947-907D-87560B9C8624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B702C2-55C5-42BB-9B8D-54C5775931A1}"/>
              </a:ext>
            </a:extLst>
          </p:cNvPr>
          <p:cNvSpPr>
            <a:spLocks noGrp="1"/>
          </p:cNvSpPr>
          <p:nvPr/>
        </p:nvSpPr>
        <p:spPr>
          <a:xfrm>
            <a:off x="876300" y="33677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55DAED-C349-4D6F-9B15-608DF3E320B2}"/>
              </a:ext>
            </a:extLst>
          </p:cNvPr>
          <p:cNvSpPr>
            <a:spLocks noGrp="1"/>
          </p:cNvSpPr>
          <p:nvPr/>
        </p:nvSpPr>
        <p:spPr>
          <a:xfrm>
            <a:off x="1009650" y="34439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23F3A"/>
                </a:solidFill>
              </a:defRPr>
            </a:pPr>
            <a:r>
              <a:rPr sz="1050" b="1">
                <a:solidFill>
                  <a:srgbClr val="123F3A"/>
                </a:solidFill>
              </a:rPr>
              <a:t>Organization setup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8D9CA4-9120-4DAB-A4A9-4F38CEFF7E96}"/>
              </a:ext>
            </a:extLst>
          </p:cNvPr>
          <p:cNvSpPr>
            <a:spLocks noGrp="1"/>
          </p:cNvSpPr>
          <p:nvPr/>
        </p:nvSpPr>
        <p:spPr>
          <a:xfrm>
            <a:off x="4305300" y="33677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9AF9E-4633-4191-B48F-601476495026}"/>
              </a:ext>
            </a:extLst>
          </p:cNvPr>
          <p:cNvSpPr>
            <a:spLocks noGrp="1"/>
          </p:cNvSpPr>
          <p:nvPr/>
        </p:nvSpPr>
        <p:spPr>
          <a:xfrm>
            <a:off x="4438650" y="34439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Roles and permissions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F35036-57D4-4E9E-81C9-A6FDBE78B959}"/>
              </a:ext>
            </a:extLst>
          </p:cNvPr>
          <p:cNvSpPr>
            <a:spLocks noGrp="1"/>
          </p:cNvSpPr>
          <p:nvPr/>
        </p:nvSpPr>
        <p:spPr>
          <a:xfrm>
            <a:off x="7734300" y="33677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4B39E-B63D-43F0-B766-CCB146DEE7F3}"/>
              </a:ext>
            </a:extLst>
          </p:cNvPr>
          <p:cNvSpPr>
            <a:spLocks noGrp="1"/>
          </p:cNvSpPr>
          <p:nvPr/>
        </p:nvSpPr>
        <p:spPr>
          <a:xfrm>
            <a:off x="7867650" y="34439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Configurable structure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6D2EE5-B7ED-48C2-86F0-6F001B207192}"/>
              </a:ext>
            </a:extLst>
          </p:cNvPr>
          <p:cNvSpPr>
            <a:spLocks noGrp="1"/>
          </p:cNvSpPr>
          <p:nvPr/>
        </p:nvSpPr>
        <p:spPr>
          <a:xfrm>
            <a:off x="876300" y="40916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E99643-172A-4CA2-AFF1-96661068A09A}"/>
              </a:ext>
            </a:extLst>
          </p:cNvPr>
          <p:cNvSpPr>
            <a:spLocks noGrp="1"/>
          </p:cNvSpPr>
          <p:nvPr/>
        </p:nvSpPr>
        <p:spPr>
          <a:xfrm>
            <a:off x="1009650" y="41678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23F3A"/>
                </a:solidFill>
              </a:defRPr>
            </a:pPr>
            <a:r>
              <a:rPr sz="1050" b="1">
                <a:solidFill>
                  <a:srgbClr val="123F3A"/>
                </a:solidFill>
              </a:rPr>
              <a:t>Custom fields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617788-38BF-4F6F-9E55-864D5A7B77B3}"/>
              </a:ext>
            </a:extLst>
          </p:cNvPr>
          <p:cNvSpPr>
            <a:spLocks noGrp="1"/>
          </p:cNvSpPr>
          <p:nvPr/>
        </p:nvSpPr>
        <p:spPr>
          <a:xfrm>
            <a:off x="4305300" y="40916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4FFC36-1782-42AA-BE96-C736DD01D986}"/>
              </a:ext>
            </a:extLst>
          </p:cNvPr>
          <p:cNvSpPr>
            <a:spLocks noGrp="1"/>
          </p:cNvSpPr>
          <p:nvPr/>
        </p:nvSpPr>
        <p:spPr>
          <a:xfrm>
            <a:off x="4438650" y="41678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Approval routing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192781-8752-4761-96D9-E1698C0C47B7}"/>
              </a:ext>
            </a:extLst>
          </p:cNvPr>
          <p:cNvSpPr>
            <a:spLocks noGrp="1"/>
          </p:cNvSpPr>
          <p:nvPr/>
        </p:nvSpPr>
        <p:spPr>
          <a:xfrm>
            <a:off x="7734300" y="40916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0BB81B-607C-4DC8-AE0B-DF5B186D35BB}"/>
              </a:ext>
            </a:extLst>
          </p:cNvPr>
          <p:cNvSpPr>
            <a:spLocks noGrp="1"/>
          </p:cNvSpPr>
          <p:nvPr/>
        </p:nvSpPr>
        <p:spPr>
          <a:xfrm>
            <a:off x="7867650" y="41678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Document rules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9739D1-830D-48F5-B83F-B8C01E7A1C44}"/>
              </a:ext>
            </a:extLst>
          </p:cNvPr>
          <p:cNvSpPr>
            <a:spLocks noGrp="1"/>
          </p:cNvSpPr>
          <p:nvPr/>
        </p:nvSpPr>
        <p:spPr>
          <a:xfrm>
            <a:off x="876300" y="48155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8F4C5E-B027-42F3-ACBE-B87C7F9F69BE}"/>
              </a:ext>
            </a:extLst>
          </p:cNvPr>
          <p:cNvSpPr>
            <a:spLocks noGrp="1"/>
          </p:cNvSpPr>
          <p:nvPr/>
        </p:nvSpPr>
        <p:spPr>
          <a:xfrm>
            <a:off x="1009650" y="48917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23F3A"/>
                </a:solidFill>
              </a:defRPr>
            </a:pPr>
            <a:r>
              <a:rPr sz="1050" b="1">
                <a:solidFill>
                  <a:srgbClr val="123F3A"/>
                </a:solidFill>
              </a:rPr>
              <a:t>Notifications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749D34-F866-44C2-BF9C-65717E2BA281}"/>
              </a:ext>
            </a:extLst>
          </p:cNvPr>
          <p:cNvSpPr>
            <a:spLocks noGrp="1"/>
          </p:cNvSpPr>
          <p:nvPr/>
        </p:nvSpPr>
        <p:spPr>
          <a:xfrm>
            <a:off x="4305300" y="48155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484580-BF67-4E9B-A015-841AC8C7225E}"/>
              </a:ext>
            </a:extLst>
          </p:cNvPr>
          <p:cNvSpPr>
            <a:spLocks noGrp="1"/>
          </p:cNvSpPr>
          <p:nvPr/>
        </p:nvSpPr>
        <p:spPr>
          <a:xfrm>
            <a:off x="4438650" y="48917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Audit and activity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677A0F5-EA70-4AB0-A58F-EB999105FFE8}"/>
              </a:ext>
            </a:extLst>
          </p:cNvPr>
          <p:cNvSpPr>
            <a:spLocks noGrp="1"/>
          </p:cNvSpPr>
          <p:nvPr/>
        </p:nvSpPr>
        <p:spPr>
          <a:xfrm>
            <a:off x="7734300" y="4815524"/>
            <a:ext cx="274320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DB4D8A-C24C-4582-B335-77DC55BA36A3}"/>
              </a:ext>
            </a:extLst>
          </p:cNvPr>
          <p:cNvSpPr>
            <a:spLocks noGrp="1"/>
          </p:cNvSpPr>
          <p:nvPr/>
        </p:nvSpPr>
        <p:spPr>
          <a:xfrm>
            <a:off x="7867650" y="4891724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Reports and exports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3B3625-CE1A-4BA0-BFE6-B741718CC4E1}"/>
              </a:ext>
            </a:extLst>
          </p:cNvPr>
          <p:cNvSpPr>
            <a:spLocks noGrp="1"/>
          </p:cNvSpPr>
          <p:nvPr/>
        </p:nvSpPr>
        <p:spPr>
          <a:xfrm>
            <a:off x="2343150" y="5409416"/>
            <a:ext cx="7486650" cy="514350"/>
          </a:xfrm>
          <a:prstGeom prst="roundRect">
            <a:avLst>
              <a:gd name="adj" fmla="val 29630"/>
            </a:avLst>
          </a:prstGeom>
          <a:solidFill>
            <a:srgbClr val="123F3A"/>
          </a:solidFill>
          <a:ln w="0">
            <a:solidFill>
              <a:srgbClr val="123F3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625F60-8DF7-4561-B924-25F63D9100E2}"/>
              </a:ext>
            </a:extLst>
          </p:cNvPr>
          <p:cNvSpPr>
            <a:spLocks noGrp="1"/>
          </p:cNvSpPr>
          <p:nvPr/>
        </p:nvSpPr>
        <p:spPr>
          <a:xfrm>
            <a:off x="2647950" y="5542766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Default enough to start. Configurable enough to own.</a:t>
            </a:r>
          </a:p>
        </p:txBody>
      </p:sp>
    </p:spTree>
    <p:extLst>
      <p:ext uri="{BB962C8B-B14F-4D97-AF65-F5344CB8AC3E}">
        <p14:creationId xmlns:p14="http://schemas.microsoft.com/office/powerpoint/2010/main" val="20509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5F49754-269D-4C93-9288-E6F7F8E6B4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C9C70-539A-4E34-A15D-FBD77B6345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84655-A910-469C-B56B-26200166C48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BDE3F-D5C3-4872-BF13-46F3872940DD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DIFFERENTIATION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5E2A0-A130-40C6-BBB3-3CE87A3CFD88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Valtireo wins through control, not feature sprawl.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CCA8C-D0EF-47F5-897E-1438D198A939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The point is not to copy every HRMS module immediately. The point is to govern administrative work better than spreadsheets, chats, and narrow HR tools.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9C4E43-D451-460B-8BAC-2D2E66FC29E7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D09D43-5A85-44BC-BCED-019BF2BF9254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9B9B67-37DD-435D-B1B0-9D5C9ECFE916}"/>
              </a:ext>
            </a:extLst>
          </p:cNvPr>
          <p:cNvSpPr>
            <a:spLocks noGrp="1"/>
          </p:cNvSpPr>
          <p:nvPr/>
        </p:nvSpPr>
        <p:spPr>
          <a:xfrm>
            <a:off x="914400" y="3414665"/>
            <a:ext cx="44958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0DD310-5251-4038-AAF7-B2E4F2429836}"/>
              </a:ext>
            </a:extLst>
          </p:cNvPr>
          <p:cNvSpPr>
            <a:spLocks noGrp="1"/>
          </p:cNvSpPr>
          <p:nvPr/>
        </p:nvSpPr>
        <p:spPr>
          <a:xfrm>
            <a:off x="1143000" y="3624215"/>
            <a:ext cx="403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Multi-tenant SaaS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BEE0B-7E62-49CA-A5DE-BE2419B8EB56}"/>
              </a:ext>
            </a:extLst>
          </p:cNvPr>
          <p:cNvSpPr>
            <a:spLocks noGrp="1"/>
          </p:cNvSpPr>
          <p:nvPr/>
        </p:nvSpPr>
        <p:spPr>
          <a:xfrm>
            <a:off x="1143000" y="4024265"/>
            <a:ext cx="403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Organizations are provisioned as owned workspaces, with module entitlements and scoped data.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EC81C6-EC49-416A-AD3E-6A9D4C7232F7}"/>
              </a:ext>
            </a:extLst>
          </p:cNvPr>
          <p:cNvSpPr>
            <a:spLocks noGrp="1"/>
          </p:cNvSpPr>
          <p:nvPr/>
        </p:nvSpPr>
        <p:spPr>
          <a:xfrm>
            <a:off x="6057900" y="3414665"/>
            <a:ext cx="4495800" cy="1104900"/>
          </a:xfrm>
          <a:prstGeom prst="roundRect">
            <a:avLst>
              <a:gd name="adj" fmla="val 12069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425C46-18A8-4C62-BDCA-F436F8F64ED0}"/>
              </a:ext>
            </a:extLst>
          </p:cNvPr>
          <p:cNvSpPr>
            <a:spLocks noGrp="1"/>
          </p:cNvSpPr>
          <p:nvPr/>
        </p:nvSpPr>
        <p:spPr>
          <a:xfrm>
            <a:off x="6286500" y="3624215"/>
            <a:ext cx="403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Document compliance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C7B04D-5B38-4988-A264-8F3CFB212FF6}"/>
              </a:ext>
            </a:extLst>
          </p:cNvPr>
          <p:cNvSpPr>
            <a:spLocks noGrp="1"/>
          </p:cNvSpPr>
          <p:nvPr/>
        </p:nvSpPr>
        <p:spPr>
          <a:xfrm>
            <a:off x="6286500" y="4024265"/>
            <a:ext cx="403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Requirements, expiries, review states, and reminders are first-class operating objects.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29E64C-EFDC-4A6C-AAAF-B501C2B265E4}"/>
              </a:ext>
            </a:extLst>
          </p:cNvPr>
          <p:cNvSpPr>
            <a:spLocks noGrp="1"/>
          </p:cNvSpPr>
          <p:nvPr/>
        </p:nvSpPr>
        <p:spPr>
          <a:xfrm>
            <a:off x="914400" y="4862465"/>
            <a:ext cx="44958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71139-3C6A-4C10-904D-5D8880E70659}"/>
              </a:ext>
            </a:extLst>
          </p:cNvPr>
          <p:cNvSpPr>
            <a:spLocks noGrp="1"/>
          </p:cNvSpPr>
          <p:nvPr/>
        </p:nvSpPr>
        <p:spPr>
          <a:xfrm>
            <a:off x="1143000" y="5072015"/>
            <a:ext cx="403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Shared approvals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4EA675-F114-4BD3-95C4-DDC633CCDE04}"/>
              </a:ext>
            </a:extLst>
          </p:cNvPr>
          <p:cNvSpPr>
            <a:spLocks noGrp="1"/>
          </p:cNvSpPr>
          <p:nvPr/>
        </p:nvSpPr>
        <p:spPr>
          <a:xfrm>
            <a:off x="1143000" y="5472065"/>
            <a:ext cx="403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Documents, leave, attendance, and future modules can reuse the same decision engine.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F7F6DE-C28D-4628-8942-6FF52D7FADE1}"/>
              </a:ext>
            </a:extLst>
          </p:cNvPr>
          <p:cNvSpPr>
            <a:spLocks noGrp="1"/>
          </p:cNvSpPr>
          <p:nvPr/>
        </p:nvSpPr>
        <p:spPr>
          <a:xfrm>
            <a:off x="6057900" y="4862465"/>
            <a:ext cx="4495800" cy="1104900"/>
          </a:xfrm>
          <a:prstGeom prst="roundRect">
            <a:avLst>
              <a:gd name="adj" fmla="val 12069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4C5D26-60D2-4A11-8E21-FB3C370DADDA}"/>
              </a:ext>
            </a:extLst>
          </p:cNvPr>
          <p:cNvSpPr>
            <a:spLocks noGrp="1"/>
          </p:cNvSpPr>
          <p:nvPr/>
        </p:nvSpPr>
        <p:spPr>
          <a:xfrm>
            <a:off x="6286500" y="5072015"/>
            <a:ext cx="403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Audit-ready activity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81F589-2F2E-4F01-A103-0CBA54334A0F}"/>
              </a:ext>
            </a:extLst>
          </p:cNvPr>
          <p:cNvSpPr>
            <a:spLocks noGrp="1"/>
          </p:cNvSpPr>
          <p:nvPr/>
        </p:nvSpPr>
        <p:spPr>
          <a:xfrm>
            <a:off x="6286500" y="5472065"/>
            <a:ext cx="403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Important changes carry actor, status, metadata, and history.</a:t>
            </a:r>
          </a:p>
        </p:txBody>
      </p:sp>
    </p:spTree>
    <p:extLst>
      <p:ext uri="{BB962C8B-B14F-4D97-AF65-F5344CB8AC3E}">
        <p14:creationId xmlns:p14="http://schemas.microsoft.com/office/powerpoint/2010/main" val="128929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F6EFC9A-533D-40DC-B398-C1C62DAB17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7E9E3C-BC64-4312-8F19-28E01D9023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2BC7B-4197-43B7-9E7A-66CAE2BDCCA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DADEB-AFB2-4DA4-97EF-CBCF4406E5F4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ROADMAP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DCD7B-6A0B-4635-82D0-DA43FCE3B6C9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The product expands by attaching modules to the same foundation.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46578-845C-4F83-9B3A-7467A4E4EB1B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Future surfaces should activate on top of existing organization structure, roles, approvals, notifications, reports, and audit trails.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EC665D-D6BA-4693-BEED-B96297C9D93A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C75A2-BE4B-4E5D-A768-BBFFCA155ADF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413158-B54E-4CF7-9088-FF6BD026CA85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514350" cy="514350"/>
          </a:xfrm>
          <a:prstGeom prst="ellipse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5F9F49-D409-4FA1-ADF0-69CFD0CAF87B}"/>
              </a:ext>
            </a:extLst>
          </p:cNvPr>
          <p:cNvSpPr>
            <a:spLocks noGrp="1"/>
          </p:cNvSpPr>
          <p:nvPr/>
        </p:nvSpPr>
        <p:spPr>
          <a:xfrm>
            <a:off x="1619250" y="3590925"/>
            <a:ext cx="1981200" cy="28575"/>
          </a:xfrm>
          <a:prstGeom prst="rect">
            <a:avLst/>
          </a:prstGeom>
          <a:solidFill>
            <a:srgbClr val="D7E2E0"/>
          </a:solidFill>
          <a:ln w="0">
            <a:solidFill>
              <a:srgbClr val="D7E2E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A9E9C-8325-4FE4-A358-AC8DDD850DAC}"/>
              </a:ext>
            </a:extLst>
          </p:cNvPr>
          <p:cNvSpPr>
            <a:spLocks noGrp="1"/>
          </p:cNvSpPr>
          <p:nvPr/>
        </p:nvSpPr>
        <p:spPr>
          <a:xfrm>
            <a:off x="590550" y="4057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Now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DBA170-7183-486A-814E-0BB470FD5C66}"/>
              </a:ext>
            </a:extLst>
          </p:cNvPr>
          <p:cNvSpPr>
            <a:spLocks noGrp="1"/>
          </p:cNvSpPr>
          <p:nvPr/>
        </p:nvSpPr>
        <p:spPr>
          <a:xfrm>
            <a:off x="285750" y="44767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Core HR, Documents, Leave, Attendance, Reports, Governance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61AC89-1287-41FC-893F-7CEE7AD0CA80}"/>
              </a:ext>
            </a:extLst>
          </p:cNvPr>
          <p:cNvSpPr>
            <a:spLocks noGrp="1"/>
          </p:cNvSpPr>
          <p:nvPr/>
        </p:nvSpPr>
        <p:spPr>
          <a:xfrm>
            <a:off x="3752850" y="3333750"/>
            <a:ext cx="514350" cy="514350"/>
          </a:xfrm>
          <a:prstGeom prst="ellipse">
            <a:avLst/>
          </a:prstGeom>
          <a:solidFill>
            <a:srgbClr val="2F8F8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B330E-7048-468D-8F07-A01C56BA7B87}"/>
              </a:ext>
            </a:extLst>
          </p:cNvPr>
          <p:cNvSpPr>
            <a:spLocks noGrp="1"/>
          </p:cNvSpPr>
          <p:nvPr/>
        </p:nvSpPr>
        <p:spPr>
          <a:xfrm>
            <a:off x="4305300" y="3590925"/>
            <a:ext cx="1981200" cy="28575"/>
          </a:xfrm>
          <a:prstGeom prst="rect">
            <a:avLst/>
          </a:prstGeom>
          <a:solidFill>
            <a:srgbClr val="D7E2E0"/>
          </a:solidFill>
          <a:ln w="0">
            <a:solidFill>
              <a:srgbClr val="D7E2E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A606A-9627-415D-9267-E4883F94E1E9}"/>
              </a:ext>
            </a:extLst>
          </p:cNvPr>
          <p:cNvSpPr>
            <a:spLocks noGrp="1"/>
          </p:cNvSpPr>
          <p:nvPr/>
        </p:nvSpPr>
        <p:spPr>
          <a:xfrm>
            <a:off x="3276600" y="4057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Next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E416DE-CA61-41C9-B625-0CC3A4E43A8A}"/>
              </a:ext>
            </a:extLst>
          </p:cNvPr>
          <p:cNvSpPr>
            <a:spLocks noGrp="1"/>
          </p:cNvSpPr>
          <p:nvPr/>
        </p:nvSpPr>
        <p:spPr>
          <a:xfrm>
            <a:off x="2971800" y="44767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Polished frontend, demo workspace, pilots, file upload, dashboard refinement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4092205-B689-403B-AACB-5A56E5B6AD78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514350" cy="514350"/>
          </a:xfrm>
          <a:prstGeom prst="ellipse">
            <a:avLst/>
          </a:prstGeom>
          <a:solidFill>
            <a:srgbClr val="244F7A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EAED5-288F-4878-9F27-28A46D5DD465}"/>
              </a:ext>
            </a:extLst>
          </p:cNvPr>
          <p:cNvSpPr>
            <a:spLocks noGrp="1"/>
          </p:cNvSpPr>
          <p:nvPr/>
        </p:nvSpPr>
        <p:spPr>
          <a:xfrm>
            <a:off x="6991350" y="3590925"/>
            <a:ext cx="1981200" cy="28575"/>
          </a:xfrm>
          <a:prstGeom prst="rect">
            <a:avLst/>
          </a:prstGeom>
          <a:solidFill>
            <a:srgbClr val="D7E2E0"/>
          </a:solidFill>
          <a:ln w="0">
            <a:solidFill>
              <a:srgbClr val="D7E2E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7BAA19-2663-49CA-8AE4-51049A88FB99}"/>
              </a:ext>
            </a:extLst>
          </p:cNvPr>
          <p:cNvSpPr>
            <a:spLocks noGrp="1"/>
          </p:cNvSpPr>
          <p:nvPr/>
        </p:nvSpPr>
        <p:spPr>
          <a:xfrm>
            <a:off x="5962650" y="4057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Expand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FC3D2B-B9BD-4EA0-88EB-F1B2D2BED5FA}"/>
              </a:ext>
            </a:extLst>
          </p:cNvPr>
          <p:cNvSpPr>
            <a:spLocks noGrp="1"/>
          </p:cNvSpPr>
          <p:nvPr/>
        </p:nvSpPr>
        <p:spPr>
          <a:xfrm>
            <a:off x="5657850" y="44767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Payroll, Recruitment, Performance, Learning, Claims, Service Desk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3762FF-6F9D-4CB8-B04C-B0CDB7EF827A}"/>
              </a:ext>
            </a:extLst>
          </p:cNvPr>
          <p:cNvSpPr>
            <a:spLocks noGrp="1"/>
          </p:cNvSpPr>
          <p:nvPr/>
        </p:nvSpPr>
        <p:spPr>
          <a:xfrm>
            <a:off x="9124950" y="3333750"/>
            <a:ext cx="514350" cy="514350"/>
          </a:xfrm>
          <a:prstGeom prst="ellipse">
            <a:avLst/>
          </a:prstGeom>
          <a:solidFill>
            <a:srgbClr val="FFCC2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715B0-820B-48A3-AED0-1EAC311A6A75}"/>
              </a:ext>
            </a:extLst>
          </p:cNvPr>
          <p:cNvSpPr>
            <a:spLocks noGrp="1"/>
          </p:cNvSpPr>
          <p:nvPr/>
        </p:nvSpPr>
        <p:spPr>
          <a:xfrm>
            <a:off x="8648700" y="4057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Later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6E1648-19D4-40CC-8670-75C03F70624E}"/>
              </a:ext>
            </a:extLst>
          </p:cNvPr>
          <p:cNvSpPr>
            <a:spLocks noGrp="1"/>
          </p:cNvSpPr>
          <p:nvPr/>
        </p:nvSpPr>
        <p:spPr>
          <a:xfrm>
            <a:off x="8343900" y="44767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AI assistant, mobile, SSO, advanced analytics, operational OS line</a:t>
            </a:r>
          </a:p>
        </p:txBody>
      </p:sp>
    </p:spTree>
    <p:extLst>
      <p:ext uri="{BB962C8B-B14F-4D97-AF65-F5344CB8AC3E}">
        <p14:creationId xmlns:p14="http://schemas.microsoft.com/office/powerpoint/2010/main" val="114195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A6E568A-036D-404F-891B-4CBF62E485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AEA059-6C95-4054-A962-30C579E439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3EA17C-6300-4F9B-B712-D0BCC1891C5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14AA72-5101-4597-968E-60B7367AFA66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05713-DB82-4826-9575-45B7444D1BDD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Start where complexity is painful but buying can still move.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CC6AC-32FD-4BE1-9B64-6AD3BE7635AF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Valtireo is best suited for institutions and growing teams that need structure, compliance, and administrative visibility without enterprise-suite complexity.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C350E-A6AA-45D6-B858-1630818F5A82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738FC1-78EB-4621-9C65-F61512C351A6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3CFD2C-B992-433E-ACDB-31A76F3E3CAD}"/>
              </a:ext>
            </a:extLst>
          </p:cNvPr>
          <p:cNvSpPr>
            <a:spLocks noGrp="1"/>
          </p:cNvSpPr>
          <p:nvPr/>
        </p:nvSpPr>
        <p:spPr>
          <a:xfrm>
            <a:off x="1076227" y="3369103"/>
            <a:ext cx="409575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83B52D-2490-4418-8613-FCA0506BCBC2}"/>
              </a:ext>
            </a:extLst>
          </p:cNvPr>
          <p:cNvSpPr>
            <a:spLocks noGrp="1"/>
          </p:cNvSpPr>
          <p:nvPr/>
        </p:nvSpPr>
        <p:spPr>
          <a:xfrm>
            <a:off x="1209577" y="3445303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23F3A"/>
                </a:solidFill>
              </a:defRPr>
            </a:pPr>
            <a:r>
              <a:rPr sz="1050" b="1">
                <a:solidFill>
                  <a:srgbClr val="123F3A"/>
                </a:solidFill>
              </a:rPr>
              <a:t>Schools and universities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FC7A9B-F1FD-4D34-8C6A-0F141AC493E3}"/>
              </a:ext>
            </a:extLst>
          </p:cNvPr>
          <p:cNvSpPr>
            <a:spLocks noGrp="1"/>
          </p:cNvSpPr>
          <p:nvPr/>
        </p:nvSpPr>
        <p:spPr>
          <a:xfrm>
            <a:off x="5933977" y="3369103"/>
            <a:ext cx="409575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0EB2E-7163-454F-BA2B-E59255DCDBE5}"/>
              </a:ext>
            </a:extLst>
          </p:cNvPr>
          <p:cNvSpPr>
            <a:spLocks noGrp="1"/>
          </p:cNvSpPr>
          <p:nvPr/>
        </p:nvSpPr>
        <p:spPr>
          <a:xfrm>
            <a:off x="6067327" y="3445303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Hospitals and healthcare groups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ED446-0A8F-41E0-A4A9-9DF929D15908}"/>
              </a:ext>
            </a:extLst>
          </p:cNvPr>
          <p:cNvSpPr>
            <a:spLocks noGrp="1"/>
          </p:cNvSpPr>
          <p:nvPr/>
        </p:nvSpPr>
        <p:spPr>
          <a:xfrm>
            <a:off x="1076227" y="4054903"/>
            <a:ext cx="409575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21B61-FAEE-4797-BED8-04019D8EDEC0}"/>
              </a:ext>
            </a:extLst>
          </p:cNvPr>
          <p:cNvSpPr>
            <a:spLocks noGrp="1"/>
          </p:cNvSpPr>
          <p:nvPr/>
        </p:nvSpPr>
        <p:spPr>
          <a:xfrm>
            <a:off x="1209577" y="4131103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NGOs and foundations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3DD508-D67C-452C-9DF3-4EF93BC39F29}"/>
              </a:ext>
            </a:extLst>
          </p:cNvPr>
          <p:cNvSpPr>
            <a:spLocks noGrp="1"/>
          </p:cNvSpPr>
          <p:nvPr/>
        </p:nvSpPr>
        <p:spPr>
          <a:xfrm>
            <a:off x="5933977" y="4054903"/>
            <a:ext cx="409575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A3AD8C-DFD8-452A-B372-BA321DA994C2}"/>
              </a:ext>
            </a:extLst>
          </p:cNvPr>
          <p:cNvSpPr>
            <a:spLocks noGrp="1"/>
          </p:cNvSpPr>
          <p:nvPr/>
        </p:nvSpPr>
        <p:spPr>
          <a:xfrm>
            <a:off x="6067327" y="4131103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23F3A"/>
                </a:solidFill>
              </a:defRPr>
            </a:pPr>
            <a:r>
              <a:rPr sz="1050" b="1">
                <a:solidFill>
                  <a:srgbClr val="123F3A"/>
                </a:solidFill>
              </a:rPr>
              <a:t>Professional service firms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D0054F-8DA7-4EE7-8516-5662682F8CB4}"/>
              </a:ext>
            </a:extLst>
          </p:cNvPr>
          <p:cNvSpPr>
            <a:spLocks noGrp="1"/>
          </p:cNvSpPr>
          <p:nvPr/>
        </p:nvSpPr>
        <p:spPr>
          <a:xfrm>
            <a:off x="1076227" y="4740703"/>
            <a:ext cx="4095750" cy="457200"/>
          </a:xfrm>
          <a:prstGeom prst="roundRect">
            <a:avLst>
              <a:gd name="adj" fmla="val 37500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BD1799-D9D0-4A7F-844A-35DFCCD29857}"/>
              </a:ext>
            </a:extLst>
          </p:cNvPr>
          <p:cNvSpPr>
            <a:spLocks noGrp="1"/>
          </p:cNvSpPr>
          <p:nvPr/>
        </p:nvSpPr>
        <p:spPr>
          <a:xfrm>
            <a:off x="1209577" y="4816903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Manufacturing and multi-location companies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195DA3-AAD0-4C60-9E72-9D15CA911817}"/>
              </a:ext>
            </a:extLst>
          </p:cNvPr>
          <p:cNvSpPr>
            <a:spLocks noGrp="1"/>
          </p:cNvSpPr>
          <p:nvPr/>
        </p:nvSpPr>
        <p:spPr>
          <a:xfrm>
            <a:off x="5933977" y="4740703"/>
            <a:ext cx="4095750" cy="457200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7C2EDE-0BD6-4C14-88A8-B6B1C58868F2}"/>
              </a:ext>
            </a:extLst>
          </p:cNvPr>
          <p:cNvSpPr>
            <a:spLocks noGrp="1"/>
          </p:cNvSpPr>
          <p:nvPr/>
        </p:nvSpPr>
        <p:spPr>
          <a:xfrm>
            <a:off x="6067327" y="4816903"/>
            <a:ext cx="3829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Public institutions and parastatals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06AFD7-58EE-4FFC-AB32-10435D781E68}"/>
              </a:ext>
            </a:extLst>
          </p:cNvPr>
          <p:cNvSpPr>
            <a:spLocks noGrp="1"/>
          </p:cNvSpPr>
          <p:nvPr/>
        </p:nvSpPr>
        <p:spPr>
          <a:xfrm>
            <a:off x="1276350" y="5486399"/>
            <a:ext cx="4248150" cy="1159303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F39F59-CA28-4F55-854A-B09AFF2C397A}"/>
              </a:ext>
            </a:extLst>
          </p:cNvPr>
          <p:cNvSpPr>
            <a:spLocks noGrp="1"/>
          </p:cNvSpPr>
          <p:nvPr/>
        </p:nvSpPr>
        <p:spPr>
          <a:xfrm>
            <a:off x="1504950" y="5620142"/>
            <a:ext cx="3790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 dirty="0">
                <a:solidFill>
                  <a:srgbClr val="101828"/>
                </a:solidFill>
              </a:rPr>
              <a:t>Economic buyers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E3AFE3-37DF-4B3D-B03E-5AF2A576762F}"/>
              </a:ext>
            </a:extLst>
          </p:cNvPr>
          <p:cNvSpPr>
            <a:spLocks noGrp="1"/>
          </p:cNvSpPr>
          <p:nvPr/>
        </p:nvSpPr>
        <p:spPr>
          <a:xfrm>
            <a:off x="1504950" y="5954203"/>
            <a:ext cx="3790950" cy="5497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 dirty="0">
                <a:solidFill>
                  <a:srgbClr val="667085"/>
                </a:solidFill>
              </a:rPr>
              <a:t>CEO, founder, managing director, head of administration, HR director, COO, permanent secretary, or director of administration.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6192D46-D488-402B-B508-4EB6B466DA2C}"/>
              </a:ext>
            </a:extLst>
          </p:cNvPr>
          <p:cNvSpPr>
            <a:spLocks noGrp="1"/>
          </p:cNvSpPr>
          <p:nvPr/>
        </p:nvSpPr>
        <p:spPr>
          <a:xfrm>
            <a:off x="6591300" y="5448299"/>
            <a:ext cx="4248150" cy="1159303"/>
          </a:xfrm>
          <a:prstGeom prst="roundRect">
            <a:avLst>
              <a:gd name="adj" fmla="val 17073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0E7354-EFB3-4DFB-99AA-5692B40A94EC}"/>
              </a:ext>
            </a:extLst>
          </p:cNvPr>
          <p:cNvSpPr>
            <a:spLocks noGrp="1"/>
          </p:cNvSpPr>
          <p:nvPr/>
        </p:nvSpPr>
        <p:spPr>
          <a:xfrm>
            <a:off x="6800850" y="5657850"/>
            <a:ext cx="3790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Daily users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51F8D0-AF67-423B-A221-F741FB38DEBD}"/>
              </a:ext>
            </a:extLst>
          </p:cNvPr>
          <p:cNvSpPr>
            <a:spLocks noGrp="1"/>
          </p:cNvSpPr>
          <p:nvPr/>
        </p:nvSpPr>
        <p:spPr>
          <a:xfrm>
            <a:off x="6800850" y="6057900"/>
            <a:ext cx="3790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 dirty="0">
                <a:solidFill>
                  <a:srgbClr val="667085"/>
                </a:solidFill>
              </a:rPr>
              <a:t>HR officers, compliance teams, department heads, supervisors, employees, and ICT/admin support.</a:t>
            </a:r>
          </a:p>
        </p:txBody>
      </p:sp>
    </p:spTree>
    <p:extLst>
      <p:ext uri="{BB962C8B-B14F-4D97-AF65-F5344CB8AC3E}">
        <p14:creationId xmlns:p14="http://schemas.microsoft.com/office/powerpoint/2010/main" val="210361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33F5344-669D-4FCD-9213-C150B5472C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68555-D8F2-41E4-AD47-7C3A237460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0A9E5-E9F2-43BA-9072-FEF3472F6B6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AA63A-F040-454E-9634-046B1AC7ABF7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GO TO MARKET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6A49A0-1CAF-4EBA-AF29-7BFF79057CE8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Sell a focused pilot before selling the whole vision.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C47A4-70DD-4448-8FBD-6F8F62A246A8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The commercial motion should prove urgency around a few painful workflows, then expand the workspace as trust grows.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86C014-7500-401A-BB51-9371C3DF30CA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731943-DD1A-437C-9588-6029AD7C42D8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78650B-19EB-43F3-AE90-1A883132A35D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2362200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889D58-ACF8-4E48-AC7C-67AFFBFC52F9}"/>
              </a:ext>
            </a:extLst>
          </p:cNvPr>
          <p:cNvSpPr>
            <a:spLocks noGrp="1"/>
          </p:cNvSpPr>
          <p:nvPr/>
        </p:nvSpPr>
        <p:spPr>
          <a:xfrm>
            <a:off x="1104900" y="3467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23F3A"/>
                </a:solidFill>
              </a:defRPr>
            </a:pPr>
            <a:r>
              <a:rPr sz="1500" b="1">
                <a:solidFill>
                  <a:srgbClr val="123F3A"/>
                </a:solidFill>
              </a:rPr>
              <a:t>1. Validate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1A4B37-EED4-45E6-9135-B158312287EF}"/>
              </a:ext>
            </a:extLst>
          </p:cNvPr>
          <p:cNvSpPr>
            <a:spLocks noGrp="1"/>
          </p:cNvSpPr>
          <p:nvPr/>
        </p:nvSpPr>
        <p:spPr>
          <a:xfrm>
            <a:off x="1104900" y="386715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20-30 discovery/demo conversations with HR and admin leaders.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ED0B18-8C12-460A-8190-1D0AD9F39322}"/>
              </a:ext>
            </a:extLst>
          </p:cNvPr>
          <p:cNvSpPr>
            <a:spLocks noGrp="1"/>
          </p:cNvSpPr>
          <p:nvPr/>
        </p:nvSpPr>
        <p:spPr>
          <a:xfrm>
            <a:off x="3657600" y="3257550"/>
            <a:ext cx="2362200" cy="1581150"/>
          </a:xfrm>
          <a:prstGeom prst="roundRect">
            <a:avLst>
              <a:gd name="adj" fmla="val 8434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030A38-6825-46AC-A4C6-8BE5E039FED7}"/>
              </a:ext>
            </a:extLst>
          </p:cNvPr>
          <p:cNvSpPr>
            <a:spLocks noGrp="1"/>
          </p:cNvSpPr>
          <p:nvPr/>
        </p:nvSpPr>
        <p:spPr>
          <a:xfrm>
            <a:off x="3886200" y="3467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F8F8A"/>
                </a:solidFill>
              </a:defRPr>
            </a:pPr>
            <a:r>
              <a:rPr sz="1500" b="1">
                <a:solidFill>
                  <a:srgbClr val="2F8F8A"/>
                </a:solidFill>
              </a:rPr>
              <a:t>2. Pilot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139823-7076-448A-875D-7A2E3293A3DF}"/>
              </a:ext>
            </a:extLst>
          </p:cNvPr>
          <p:cNvSpPr>
            <a:spLocks noGrp="1"/>
          </p:cNvSpPr>
          <p:nvPr/>
        </p:nvSpPr>
        <p:spPr>
          <a:xfrm>
            <a:off x="3886200" y="386715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60-90 day paid pilots around employee records, documents, leave, attendance, and reports.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8A1C11-20D9-4BA2-B85A-C607BFB0B09E}"/>
              </a:ext>
            </a:extLst>
          </p:cNvPr>
          <p:cNvSpPr>
            <a:spLocks noGrp="1"/>
          </p:cNvSpPr>
          <p:nvPr/>
        </p:nvSpPr>
        <p:spPr>
          <a:xfrm>
            <a:off x="6438900" y="3257550"/>
            <a:ext cx="2362200" cy="158115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2E3ADF-DF4C-4906-9F14-5EEE4E9AA31D}"/>
              </a:ext>
            </a:extLst>
          </p:cNvPr>
          <p:cNvSpPr>
            <a:spLocks noGrp="1"/>
          </p:cNvSpPr>
          <p:nvPr/>
        </p:nvSpPr>
        <p:spPr>
          <a:xfrm>
            <a:off x="6667500" y="3467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44F7A"/>
                </a:solidFill>
              </a:defRPr>
            </a:pPr>
            <a:r>
              <a:rPr sz="1500" b="1">
                <a:solidFill>
                  <a:srgbClr val="244F7A"/>
                </a:solidFill>
              </a:rPr>
              <a:t>3. Prove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DEF034-1C5D-4FAE-BB2E-8D4D3090C3AF}"/>
              </a:ext>
            </a:extLst>
          </p:cNvPr>
          <p:cNvSpPr>
            <a:spLocks noGrp="1"/>
          </p:cNvSpPr>
          <p:nvPr/>
        </p:nvSpPr>
        <p:spPr>
          <a:xfrm>
            <a:off x="6667500" y="386715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Capture before/after improvements, screenshots, objections, and testimonials.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96937C-91EE-472B-9A1B-586F11956D22}"/>
              </a:ext>
            </a:extLst>
          </p:cNvPr>
          <p:cNvSpPr>
            <a:spLocks noGrp="1"/>
          </p:cNvSpPr>
          <p:nvPr/>
        </p:nvSpPr>
        <p:spPr>
          <a:xfrm>
            <a:off x="9220200" y="3257550"/>
            <a:ext cx="2362200" cy="1581150"/>
          </a:xfrm>
          <a:prstGeom prst="roundRect">
            <a:avLst>
              <a:gd name="adj" fmla="val 8434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5D8217-C129-480C-9A38-AADC42D59454}"/>
              </a:ext>
            </a:extLst>
          </p:cNvPr>
          <p:cNvSpPr>
            <a:spLocks noGrp="1"/>
          </p:cNvSpPr>
          <p:nvPr/>
        </p:nvSpPr>
        <p:spPr>
          <a:xfrm>
            <a:off x="9448800" y="3467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47A00"/>
                </a:solidFill>
              </a:defRPr>
            </a:pPr>
            <a:r>
              <a:rPr sz="1500" b="1">
                <a:solidFill>
                  <a:srgbClr val="C47A00"/>
                </a:solidFill>
              </a:rPr>
              <a:t>4. Repeat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BDCA5E-1BDA-4E43-ADB5-A53FFC7BAA8D}"/>
              </a:ext>
            </a:extLst>
          </p:cNvPr>
          <p:cNvSpPr>
            <a:spLocks noGrp="1"/>
          </p:cNvSpPr>
          <p:nvPr/>
        </p:nvSpPr>
        <p:spPr>
          <a:xfrm>
            <a:off x="9448800" y="386715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Package sales by vertical: schools, healthcare, NGOs, growing enterprises.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1A6C66-2F44-4365-A440-9BD5113AB006}"/>
              </a:ext>
            </a:extLst>
          </p:cNvPr>
          <p:cNvSpPr>
            <a:spLocks noGrp="1"/>
          </p:cNvSpPr>
          <p:nvPr/>
        </p:nvSpPr>
        <p:spPr>
          <a:xfrm>
            <a:off x="1123950" y="539115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23F3A"/>
                </a:solidFill>
              </a:defRPr>
            </a:pPr>
            <a:r>
              <a:rPr sz="1575" b="1">
                <a:solidFill>
                  <a:srgbClr val="123F3A"/>
                </a:solidFill>
              </a:rPr>
              <a:t>Best initial offer: configure a Valtireo workspace and digitize records, document compliance, leave approvals, and basic attendance reporting within 30 days.</a:t>
            </a:r>
          </a:p>
        </p:txBody>
      </p:sp>
    </p:spTree>
    <p:extLst>
      <p:ext uri="{BB962C8B-B14F-4D97-AF65-F5344CB8AC3E}">
        <p14:creationId xmlns:p14="http://schemas.microsoft.com/office/powerpoint/2010/main" val="126785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9473758-7656-471E-8887-6D82955031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564F96-C628-4236-976A-96E84DD824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F8CDC6-1413-411F-A287-B036B5005F9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8F8A"/>
                </a:solidFill>
              </a:defRPr>
            </a:pPr>
            <a:r>
              <a:rPr sz="1125" b="1">
                <a:solidFill>
                  <a:srgbClr val="2F8F8A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7871A-305D-418B-917F-8BA6F7A2CE82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F8A"/>
                </a:solidFill>
              </a:defRPr>
            </a:pPr>
            <a:r>
              <a:rPr sz="1050" b="1">
                <a:solidFill>
                  <a:srgbClr val="2F8F8A"/>
                </a:solidFill>
              </a:rPr>
              <a:t>BUSINESS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018E0-1269-4412-9A89-453D9EBE4898}"/>
              </a:ext>
            </a:extLst>
          </p:cNvPr>
          <p:cNvSpPr>
            <a:spLocks noGrp="1"/>
          </p:cNvSpPr>
          <p:nvPr/>
        </p:nvSpPr>
        <p:spPr>
          <a:xfrm>
            <a:off x="819150" y="1181100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1828"/>
                </a:solidFill>
              </a:defRPr>
            </a:pPr>
            <a:r>
              <a:rPr sz="3075" b="1">
                <a:solidFill>
                  <a:srgbClr val="101828"/>
                </a:solidFill>
              </a:rPr>
              <a:t>Land with the operating layer, expand module by module.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D04D0-1BA8-41F6-ADEE-EDBF07504DFF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Pricing should stay simple at first, then validate module and seat economics through pilots and discovery calls.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55DD11-BBD6-4D79-BF37-83C6DC0DB5CF}"/>
              </a:ext>
            </a:extLst>
          </p:cNvPr>
          <p:cNvSpPr>
            <a:spLocks noGrp="1"/>
          </p:cNvSpPr>
          <p:nvPr/>
        </p:nvSpPr>
        <p:spPr>
          <a:xfrm>
            <a:off x="10839450" y="61912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1EE887-450B-4006-A8B3-E902E4AAD4C4}"/>
              </a:ext>
            </a:extLst>
          </p:cNvPr>
          <p:cNvSpPr>
            <a:spLocks noGrp="1"/>
          </p:cNvSpPr>
          <p:nvPr/>
        </p:nvSpPr>
        <p:spPr>
          <a:xfrm>
            <a:off x="9029700" y="6191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Organizational 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F21F06-0915-4A46-948D-D91D66455110}"/>
              </a:ext>
            </a:extLst>
          </p:cNvPr>
          <p:cNvSpPr>
            <a:spLocks noGrp="1"/>
          </p:cNvSpPr>
          <p:nvPr/>
        </p:nvSpPr>
        <p:spPr>
          <a:xfrm>
            <a:off x="952500" y="3141878"/>
            <a:ext cx="2400300" cy="12763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E9FF90-5284-497D-951C-BBBA92B33AF4}"/>
              </a:ext>
            </a:extLst>
          </p:cNvPr>
          <p:cNvSpPr>
            <a:spLocks noGrp="1"/>
          </p:cNvSpPr>
          <p:nvPr/>
        </p:nvSpPr>
        <p:spPr>
          <a:xfrm>
            <a:off x="1181100" y="3351428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Subscription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8D26CE-7201-47FB-A516-F8CEB9D5299E}"/>
              </a:ext>
            </a:extLst>
          </p:cNvPr>
          <p:cNvSpPr>
            <a:spLocks noGrp="1"/>
          </p:cNvSpPr>
          <p:nvPr/>
        </p:nvSpPr>
        <p:spPr>
          <a:xfrm>
            <a:off x="1181100" y="3751478"/>
            <a:ext cx="1943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SaaS subscription for active organizations and users/employees.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CE6553-E229-4678-9DE4-C9D8BFDD8FB0}"/>
              </a:ext>
            </a:extLst>
          </p:cNvPr>
          <p:cNvSpPr>
            <a:spLocks noGrp="1"/>
          </p:cNvSpPr>
          <p:nvPr/>
        </p:nvSpPr>
        <p:spPr>
          <a:xfrm>
            <a:off x="3676650" y="3141878"/>
            <a:ext cx="2400300" cy="1276350"/>
          </a:xfrm>
          <a:prstGeom prst="roundRect">
            <a:avLst>
              <a:gd name="adj" fmla="val 10448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B3C309-5EED-4F02-9A42-FBD2EDC273F3}"/>
              </a:ext>
            </a:extLst>
          </p:cNvPr>
          <p:cNvSpPr>
            <a:spLocks noGrp="1"/>
          </p:cNvSpPr>
          <p:nvPr/>
        </p:nvSpPr>
        <p:spPr>
          <a:xfrm>
            <a:off x="3905250" y="3351428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F48C54-D12D-4CEA-B4C5-A9FFAC7212C6}"/>
              </a:ext>
            </a:extLst>
          </p:cNvPr>
          <p:cNvSpPr>
            <a:spLocks noGrp="1"/>
          </p:cNvSpPr>
          <p:nvPr/>
        </p:nvSpPr>
        <p:spPr>
          <a:xfrm>
            <a:off x="3905250" y="3751478"/>
            <a:ext cx="1943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Setup, onboarding, training, and controlled configuration services.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2E9E14-C71C-46F1-BB57-A686DB0708CF}"/>
              </a:ext>
            </a:extLst>
          </p:cNvPr>
          <p:cNvSpPr>
            <a:spLocks noGrp="1"/>
          </p:cNvSpPr>
          <p:nvPr/>
        </p:nvSpPr>
        <p:spPr>
          <a:xfrm>
            <a:off x="6400800" y="3141878"/>
            <a:ext cx="2400300" cy="12763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DA160C-D2AB-4C7B-B47E-566C23A99AAC}"/>
              </a:ext>
            </a:extLst>
          </p:cNvPr>
          <p:cNvSpPr>
            <a:spLocks noGrp="1"/>
          </p:cNvSpPr>
          <p:nvPr/>
        </p:nvSpPr>
        <p:spPr>
          <a:xfrm>
            <a:off x="6629400" y="3351428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Expansion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4EA7E2-C0EF-4412-8546-F0B11252964E}"/>
              </a:ext>
            </a:extLst>
          </p:cNvPr>
          <p:cNvSpPr>
            <a:spLocks noGrp="1"/>
          </p:cNvSpPr>
          <p:nvPr/>
        </p:nvSpPr>
        <p:spPr>
          <a:xfrm>
            <a:off x="6629400" y="3751478"/>
            <a:ext cx="1943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Future modules priced separately as customers activate more workflows.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9B8C50-3786-4E6C-9414-42FB3BBDA87D}"/>
              </a:ext>
            </a:extLst>
          </p:cNvPr>
          <p:cNvSpPr>
            <a:spLocks noGrp="1"/>
          </p:cNvSpPr>
          <p:nvPr/>
        </p:nvSpPr>
        <p:spPr>
          <a:xfrm>
            <a:off x="9124950" y="3141878"/>
            <a:ext cx="2400300" cy="1276350"/>
          </a:xfrm>
          <a:prstGeom prst="roundRect">
            <a:avLst>
              <a:gd name="adj" fmla="val 10448"/>
            </a:avLst>
          </a:prstGeom>
          <a:solidFill>
            <a:srgbClr val="EEF5F4"/>
          </a:solidFill>
          <a:ln w="9525">
            <a:solidFill>
              <a:srgbClr val="D7E2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2013B-FFE2-4DE6-A849-C6741BED0434}"/>
              </a:ext>
            </a:extLst>
          </p:cNvPr>
          <p:cNvSpPr>
            <a:spLocks noGrp="1"/>
          </p:cNvSpPr>
          <p:nvPr/>
        </p:nvSpPr>
        <p:spPr>
          <a:xfrm>
            <a:off x="9353550" y="3351428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Support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2F88EF-0682-4E99-9A54-96D068B13EA1}"/>
              </a:ext>
            </a:extLst>
          </p:cNvPr>
          <p:cNvSpPr>
            <a:spLocks noGrp="1"/>
          </p:cNvSpPr>
          <p:nvPr/>
        </p:nvSpPr>
        <p:spPr>
          <a:xfrm>
            <a:off x="9353550" y="3751478"/>
            <a:ext cx="1943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Optional retainers, SLA support, and dedicated success for institutions.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B76261-9A1B-4E05-B2B8-1F4DD022E6A5}"/>
              </a:ext>
            </a:extLst>
          </p:cNvPr>
          <p:cNvSpPr>
            <a:spLocks noGrp="1"/>
          </p:cNvSpPr>
          <p:nvPr/>
        </p:nvSpPr>
        <p:spPr>
          <a:xfrm>
            <a:off x="1143000" y="4991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Key metrics to track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AD2F52-2AA9-4913-8DBE-3A637BB21863}"/>
              </a:ext>
            </a:extLst>
          </p:cNvPr>
          <p:cNvSpPr>
            <a:spLocks noGrp="1"/>
          </p:cNvSpPr>
          <p:nvPr/>
        </p:nvSpPr>
        <p:spPr>
          <a:xfrm>
            <a:off x="3810000" y="4819650"/>
            <a:ext cx="1905000" cy="381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28EAE1-0144-4A31-A94E-A143BDDE9137}"/>
              </a:ext>
            </a:extLst>
          </p:cNvPr>
          <p:cNvSpPr>
            <a:spLocks noGrp="1"/>
          </p:cNvSpPr>
          <p:nvPr/>
        </p:nvSpPr>
        <p:spPr>
          <a:xfrm>
            <a:off x="3943350" y="48958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Organizations provisioned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7B3B6F-6A39-4370-AEE7-AC55756DBE99}"/>
              </a:ext>
            </a:extLst>
          </p:cNvPr>
          <p:cNvSpPr>
            <a:spLocks noGrp="1"/>
          </p:cNvSpPr>
          <p:nvPr/>
        </p:nvSpPr>
        <p:spPr>
          <a:xfrm>
            <a:off x="6096000" y="4819650"/>
            <a:ext cx="1905000" cy="381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A6ED63-51B8-438C-92D6-FD9CB042D800}"/>
              </a:ext>
            </a:extLst>
          </p:cNvPr>
          <p:cNvSpPr>
            <a:spLocks noGrp="1"/>
          </p:cNvSpPr>
          <p:nvPr/>
        </p:nvSpPr>
        <p:spPr>
          <a:xfrm>
            <a:off x="6229350" y="48958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Pilot conversion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DA6799-CB37-4FDA-8AA0-24CE94EEAC1E}"/>
              </a:ext>
            </a:extLst>
          </p:cNvPr>
          <p:cNvSpPr>
            <a:spLocks noGrp="1"/>
          </p:cNvSpPr>
          <p:nvPr/>
        </p:nvSpPr>
        <p:spPr>
          <a:xfrm>
            <a:off x="8382000" y="4819650"/>
            <a:ext cx="1905000" cy="381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3098EF-BAC5-4600-B6A1-B1E018D2FFD5}"/>
              </a:ext>
            </a:extLst>
          </p:cNvPr>
          <p:cNvSpPr>
            <a:spLocks noGrp="1"/>
          </p:cNvSpPr>
          <p:nvPr/>
        </p:nvSpPr>
        <p:spPr>
          <a:xfrm>
            <a:off x="8515350" y="48958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Reports exported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4132ABF-B14C-42FB-A7C3-E6F5C9D9715D}"/>
              </a:ext>
            </a:extLst>
          </p:cNvPr>
          <p:cNvSpPr>
            <a:spLocks noGrp="1"/>
          </p:cNvSpPr>
          <p:nvPr/>
        </p:nvSpPr>
        <p:spPr>
          <a:xfrm>
            <a:off x="3810000" y="5372100"/>
            <a:ext cx="1905000" cy="381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4FBBFA-D843-4599-9ECE-247C3B9CF4BF}"/>
              </a:ext>
            </a:extLst>
          </p:cNvPr>
          <p:cNvSpPr>
            <a:spLocks noGrp="1"/>
          </p:cNvSpPr>
          <p:nvPr/>
        </p:nvSpPr>
        <p:spPr>
          <a:xfrm>
            <a:off x="3943350" y="54483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Setup completion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0B513-A53A-4871-B8F1-12AE4098B8D4}"/>
              </a:ext>
            </a:extLst>
          </p:cNvPr>
          <p:cNvSpPr>
            <a:spLocks noGrp="1"/>
          </p:cNvSpPr>
          <p:nvPr/>
        </p:nvSpPr>
        <p:spPr>
          <a:xfrm>
            <a:off x="6096000" y="5372100"/>
            <a:ext cx="1905000" cy="381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74912-01EB-4A14-B51C-21BC542CB7A8}"/>
              </a:ext>
            </a:extLst>
          </p:cNvPr>
          <p:cNvSpPr>
            <a:spLocks noGrp="1"/>
          </p:cNvSpPr>
          <p:nvPr/>
        </p:nvSpPr>
        <p:spPr>
          <a:xfrm>
            <a:off x="6229350" y="54483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Admin hours saved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DD3CE6F-0241-4609-9980-307198ED2ADE}"/>
              </a:ext>
            </a:extLst>
          </p:cNvPr>
          <p:cNvSpPr>
            <a:spLocks noGrp="1"/>
          </p:cNvSpPr>
          <p:nvPr/>
        </p:nvSpPr>
        <p:spPr>
          <a:xfrm>
            <a:off x="8382000" y="5372100"/>
            <a:ext cx="1905000" cy="3810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D7E2E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3AF562-D8EB-4CED-BA0F-D79F01EFCFB6}"/>
              </a:ext>
            </a:extLst>
          </p:cNvPr>
          <p:cNvSpPr>
            <a:spLocks noGrp="1"/>
          </p:cNvSpPr>
          <p:nvPr/>
        </p:nvSpPr>
        <p:spPr>
          <a:xfrm>
            <a:off x="8515350" y="54483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4F7A"/>
                </a:solidFill>
              </a:defRPr>
            </a:pPr>
            <a:r>
              <a:rPr sz="1050" b="1">
                <a:solidFill>
                  <a:srgbClr val="244F7A"/>
                </a:solidFill>
              </a:rPr>
              <a:t>MRR / ACV</a:t>
            </a:r>
          </a:p>
        </p:txBody>
      </p:sp>
    </p:spTree>
    <p:extLst>
      <p:ext uri="{BB962C8B-B14F-4D97-AF65-F5344CB8AC3E}">
        <p14:creationId xmlns:p14="http://schemas.microsoft.com/office/powerpoint/2010/main" val="134962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FA45A49-254B-4B19-99C1-BB4B34964B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F3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4EA41-71F0-4B9E-BA35-2BB43FA8E0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FFCC29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2A911-B900-462E-8D80-0FFD8976899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CC29"/>
                </a:solidFill>
              </a:defRPr>
            </a:pPr>
            <a:r>
              <a:rPr sz="1125" b="1">
                <a:solidFill>
                  <a:srgbClr val="FFCC29"/>
                </a:solidFill>
              </a:rPr>
              <a:t>valtireo.deck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E66CF7-F21D-47E9-B653-74F022916C4C}"/>
              </a:ext>
            </a:extLst>
          </p:cNvPr>
          <p:cNvSpPr>
            <a:spLocks noGrp="1"/>
          </p:cNvSpPr>
          <p:nvPr/>
        </p:nvSpPr>
        <p:spPr>
          <a:xfrm>
            <a:off x="819150" y="800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CC29"/>
                </a:solidFill>
              </a:defRPr>
            </a:pPr>
            <a:r>
              <a:rPr sz="1050" b="1">
                <a:solidFill>
                  <a:srgbClr val="FFCC29"/>
                </a:solidFill>
              </a:rPr>
              <a:t>THE 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417D5-588B-4B51-943B-56FCE2C0DC62}"/>
              </a:ext>
            </a:extLst>
          </p:cNvPr>
          <p:cNvSpPr>
            <a:spLocks noGrp="1"/>
          </p:cNvSpPr>
          <p:nvPr/>
        </p:nvSpPr>
        <p:spPr>
          <a:xfrm>
            <a:off x="819150" y="1276350"/>
            <a:ext cx="7848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Help Valtireo turn a serious MVP foundation into paid pilot proof.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48D9C-B5A7-4658-AC62-353EE6DDAC61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DDEBE8"/>
                </a:solidFill>
              </a:defRPr>
            </a:pPr>
            <a:r>
              <a:rPr sz="1725" b="0">
                <a:solidFill>
                  <a:srgbClr val="DDEBE8"/>
                </a:solidFill>
              </a:rPr>
              <a:t>Near-term priority: finish the polished demo workspace, run focused discovery, secure 2-3 paid pilots, and use real customer workflows to validate pricing and expansion modules.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AF45A6-57EA-4AA5-9616-BB6EA4F83D22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4191000" cy="1219200"/>
          </a:xfrm>
          <a:prstGeom prst="roundRect">
            <a:avLst>
              <a:gd name="adj" fmla="val 10938"/>
            </a:avLst>
          </a:prstGeom>
          <a:solidFill>
            <a:srgbClr val="174D47"/>
          </a:solidFill>
          <a:ln w="9525">
            <a:solidFill>
              <a:srgbClr val="2F6F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2B9A1-B659-4369-A8C0-59DF9624D92D}"/>
              </a:ext>
            </a:extLst>
          </p:cNvPr>
          <p:cNvSpPr>
            <a:spLocks noGrp="1"/>
          </p:cNvSpPr>
          <p:nvPr/>
        </p:nvSpPr>
        <p:spPr>
          <a:xfrm>
            <a:off x="1104900" y="4410761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CC29"/>
                </a:solidFill>
              </a:defRPr>
            </a:pPr>
            <a:r>
              <a:rPr sz="1500" b="1" dirty="0">
                <a:solidFill>
                  <a:srgbClr val="FFCC29"/>
                </a:solidFill>
              </a:rPr>
              <a:t>Use of resources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80920-A11C-436D-AE45-0EA031C33871}"/>
              </a:ext>
            </a:extLst>
          </p:cNvPr>
          <p:cNvSpPr>
            <a:spLocks noGrp="1"/>
          </p:cNvSpPr>
          <p:nvPr/>
        </p:nvSpPr>
        <p:spPr>
          <a:xfrm>
            <a:off x="1104900" y="4810811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DEBE8"/>
                </a:solidFill>
              </a:defRPr>
            </a:pPr>
            <a:r>
              <a:rPr sz="1200" b="0">
                <a:solidFill>
                  <a:srgbClr val="DDEBE8"/>
                </a:solidFill>
              </a:rPr>
              <a:t>Frontend completion, UI/brand design, demo environment, QA, collateral, discovery, and pilot implementation.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B35C89-4B64-43A2-9AF7-943622FDE849}"/>
              </a:ext>
            </a:extLst>
          </p:cNvPr>
          <p:cNvSpPr>
            <a:spLocks noGrp="1"/>
          </p:cNvSpPr>
          <p:nvPr/>
        </p:nvSpPr>
        <p:spPr>
          <a:xfrm>
            <a:off x="5715000" y="4267200"/>
            <a:ext cx="4191000" cy="1219200"/>
          </a:xfrm>
          <a:prstGeom prst="roundRect">
            <a:avLst>
              <a:gd name="adj" fmla="val 10938"/>
            </a:avLst>
          </a:prstGeom>
          <a:solidFill>
            <a:srgbClr val="174D47"/>
          </a:solidFill>
          <a:ln w="9525">
            <a:solidFill>
              <a:srgbClr val="2F6F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0BA03-B7B5-4519-86B7-197C41E0B74A}"/>
              </a:ext>
            </a:extLst>
          </p:cNvPr>
          <p:cNvSpPr>
            <a:spLocks noGrp="1"/>
          </p:cNvSpPr>
          <p:nvPr/>
        </p:nvSpPr>
        <p:spPr>
          <a:xfrm>
            <a:off x="5943600" y="44767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B6C9"/>
                </a:solidFill>
              </a:defRPr>
            </a:pPr>
            <a:r>
              <a:rPr sz="1500" b="1">
                <a:solidFill>
                  <a:srgbClr val="16B6C9"/>
                </a:solidFill>
              </a:rPr>
              <a:t>Proof to create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8EFBE-CC0E-446A-B009-847A29637AD8}"/>
              </a:ext>
            </a:extLst>
          </p:cNvPr>
          <p:cNvSpPr>
            <a:spLocks noGrp="1"/>
          </p:cNvSpPr>
          <p:nvPr/>
        </p:nvSpPr>
        <p:spPr>
          <a:xfrm>
            <a:off x="5943600" y="487680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DDEBE8"/>
                </a:solidFill>
              </a:defRPr>
            </a:pPr>
            <a:r>
              <a:rPr sz="1200" b="0">
                <a:solidFill>
                  <a:srgbClr val="DDEBE8"/>
                </a:solidFill>
              </a:rPr>
              <a:t>Working demo, committed pilots, case-study evidence, validated pricing, and repeatable sales motion.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9FEF1D-403B-4D5E-AE46-040A802C3425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BBD6D1"/>
                </a:solidFill>
              </a:defRPr>
            </a:pPr>
            <a:r>
              <a:rPr sz="1200" b="0">
                <a:solidFill>
                  <a:srgbClr val="BBD6D1"/>
                </a:solidFill>
              </a:rPr>
              <a:t>Leading Digitals | Valtireo</a:t>
            </a:r>
          </a:p>
        </p:txBody>
      </p:sp>
    </p:spTree>
    <p:extLst>
      <p:ext uri="{BB962C8B-B14F-4D97-AF65-F5344CB8AC3E}">
        <p14:creationId xmlns:p14="http://schemas.microsoft.com/office/powerpoint/2010/main" val="21395870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1589</Words>
  <Application>Microsoft Office PowerPoint</Application>
  <DocSecurity>0</DocSecurity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 Adeleye</cp:lastModifiedBy>
  <cp:revision>1</cp:revision>
  <dcterms:created xsi:type="dcterms:W3CDTF">2026-08-24T23:18:23Z</dcterms:created>
  <dcterms:modified xsi:type="dcterms:W3CDTF">2026-08-26T14:44:00Z</dcterms:modified>
</cp:coreProperties>
</file>